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1" r:id="rId5"/>
    <p:sldMasterId id="2147483664" r:id="rId6"/>
  </p:sldMasterIdLst>
  <p:notesMasterIdLst>
    <p:notesMasterId r:id="rId25"/>
  </p:notesMasterIdLst>
  <p:sldIdLst>
    <p:sldId id="257" r:id="rId7"/>
    <p:sldId id="259" r:id="rId8"/>
    <p:sldId id="258" r:id="rId9"/>
    <p:sldId id="275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56" r:id="rId19"/>
    <p:sldId id="276" r:id="rId20"/>
    <p:sldId id="277" r:id="rId21"/>
    <p:sldId id="278" r:id="rId22"/>
    <p:sldId id="279" r:id="rId23"/>
    <p:sldId id="280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48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7F90F-8533-48BB-8FC9-0CB4CEC31348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1BFACB-C128-47FE-9175-EF3F3BD106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3509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525931-6859-6EF2-1100-61850459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C1E60D6-E417-A932-CD58-837332C8D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9F8CA4-DE39-0803-0779-7399637E4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640BBE-3EF3-229C-DE81-7C8550E50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24FB6D-6AA1-FE7D-4171-41E5B8F7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2819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EC6D2A-9A84-AC68-CD71-EB3376BF3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FDCB1C-5FB9-CBDD-2D83-6551C53D4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771F5D-1CC4-44DC-713D-CBBB12DE5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2D8B1B-4DEF-BA51-4EA5-3D27FF3BB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4D09D5-3DC6-33B8-FD8B-DE2E5FAEC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4389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076D06-0A95-CC67-23AB-3F8DE57E6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BFB221-8C25-6CEC-EC3E-10F804F95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F489F5-7497-ED6B-349D-53F3B6E1A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55B1C7-6DFB-6D0A-5A88-B1D4D3DFB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10C0C3-5EEA-44E6-57D5-9041917A7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163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BC253C-72B9-11A6-97FE-4B756A67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947D520-6EE5-B8D9-DB68-0B501193F6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0639D13-943A-BE07-4357-1F424EB33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D85180-848E-4E87-66F8-9BB0AC899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7B6058-844A-85A1-135F-648935AD5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C41FDE8-A3E2-6FF9-6280-A08C5C7DC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7316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9607D6-4A7F-51D8-6866-E113E489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E86CD7-6ECF-ED79-C161-7BBAE840D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5A2A7-7AE5-B81A-45FA-D52BD68BB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152D315-1A55-7E48-7E97-D4C67040C0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C85AE-DA31-7F5A-5914-A2B861362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DAB98B-8A4B-4DEF-BC2E-860FC83B4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F38E4DA-77B6-484B-A0AB-07317A03E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98D719E-B01E-E8C7-B453-204F910E1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124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12668B-6CFE-0DA1-59F9-6DE2D42DE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49251B-CCF0-4296-BD6A-31CAF9342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6C09D54-FE05-5A11-6472-2BA47C3E9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968E35F-C224-BE07-E707-C03F5212E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286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3A60E9-83E4-E060-B183-C6B02646B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A38614F-40B6-F2C5-455D-33A519EA9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E7096C-4608-7DBD-A116-F384A58BF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70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7838C-AE31-2A70-4A49-0AF0A1EFA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86E2CA-D8F2-30F1-8823-86BB01561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3015161-0DC8-7517-5926-BE28A8D5E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BD0775-5747-942F-7688-6BA87FCCE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14ED1F8-56EE-F10E-9519-8EFF8C5D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D0AEE8-F550-FABE-15A1-FF9A7BBB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562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590E32-1B54-B95C-A084-6754D3C68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FE044BE-96DA-B3AB-D821-FE17A3623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5683224-C2DE-169E-95E2-80A02F9F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C1C812-83B4-AF1C-05EB-213503101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2CC9F5-237E-CD5F-D969-3CA8D5DC0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E3A5B9-8530-55B8-AB35-9396AFEA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55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0C64A3-B93F-A283-B8CE-ACD8C9365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B82A478-DD9F-2A5F-EF23-A207F12E2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AA81D8-416D-A35C-0E39-984E20E32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36616E-9ADD-5AC2-DEBB-3F0129408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6F740C-A8EF-B4EF-86C1-B867124CE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043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94FB778-7C15-4342-30F7-A29DACD002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FC86455-94C7-E955-BD20-4D0CC79EF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314C94-3E38-D79B-CFB4-E41E29FC8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31667C-7DD3-5A89-B075-4814A7F73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F053C1-29CF-C058-CE79-B17AFF748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23842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78980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11416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017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870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08990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29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B68F5C7-007E-CDA0-567B-80C33E774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1F3C39-1085-E1DF-41DF-589CC9FD3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FFBECE-560E-DB69-C8E3-5C5B880A5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8490E-55BF-49F1-84EF-D6149BA4C620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1C2F89-7432-1B16-50C9-FB69B332C7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D656FD-42FB-0595-CA94-5D90DD896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C850F-B573-4E61-8BF9-BFE7F717B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2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2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7" r:id="rId2"/>
    <p:sldLayoutId id="2147483663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57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713232" y="662940"/>
            <a:ext cx="11478463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2540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1700"/>
          </a:p>
        </p:txBody>
      </p:sp>
      <p:sp>
        <p:nvSpPr>
          <p:cNvPr id="5" name="Text 3"/>
          <p:cNvSpPr/>
          <p:nvPr/>
        </p:nvSpPr>
        <p:spPr>
          <a:xfrm>
            <a:off x="1051560" y="91440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IF29 · Traitement de données (Data Analytics)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444752"/>
            <a:ext cx="8915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fr-FR" sz="3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de profils atypiques sur X à partir du dataset Tweet_Worldcup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69848" y="2770632"/>
            <a:ext cx="886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 entre une approche non supervisée et une approche supervisée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51560" y="340156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Tweets bruts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79192" y="3538728"/>
            <a:ext cx="2712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926080" y="340156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2999232" y="35478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B9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538728"/>
            <a:ext cx="2712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800600" y="340156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873752" y="35478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K-Means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28232" y="3538728"/>
            <a:ext cx="2712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675120" y="340156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748272" y="35478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02752" y="3538728"/>
            <a:ext cx="2712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549640" y="340156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622792" y="35478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B9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315968"/>
            <a:ext cx="10012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1051560" y="45902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 projet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49194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Ange KAMGUE · Xinyu HU · Tatiana Nougwa · Jules TIMADJI · Francky Fotio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5577840"/>
            <a:ext cx="5943600" cy="128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zh-CN" dirty="0"/>
              <a:t>GR02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326880" y="548640"/>
            <a:ext cx="2377440" cy="237744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9738360" y="941832"/>
            <a:ext cx="1572768" cy="1572768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10040112" y="1234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X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1">
            <a:extLst>
              <a:ext uri="{FF2B5EF4-FFF2-40B4-BE49-F238E27FC236}">
                <a16:creationId xmlns:a16="http://schemas.microsoft.com/office/drawing/2014/main" id="{79B498B0-0567-96F3-F423-73A7417FBDB3}"/>
              </a:ext>
            </a:extLst>
          </p:cNvPr>
          <p:cNvSpPr/>
          <p:nvPr/>
        </p:nvSpPr>
        <p:spPr>
          <a:xfrm>
            <a:off x="-14935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6A9C3747-2C01-08D6-A917-CCCB2F811185}"/>
              </a:ext>
            </a:extLst>
          </p:cNvPr>
          <p:cNvSpPr/>
          <p:nvPr/>
        </p:nvSpPr>
        <p:spPr>
          <a:xfrm>
            <a:off x="9525000" y="-45720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1DCFA0C6-42AD-3DD8-5A2D-AAB93B64D950}"/>
              </a:ext>
            </a:extLst>
          </p:cNvPr>
          <p:cNvSpPr/>
          <p:nvPr/>
        </p:nvSpPr>
        <p:spPr>
          <a:xfrm>
            <a:off x="9890760" y="-155448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EF864962-4607-845F-81AC-F478E95F4713}"/>
              </a:ext>
            </a:extLst>
          </p:cNvPr>
          <p:cNvSpPr/>
          <p:nvPr/>
        </p:nvSpPr>
        <p:spPr>
          <a:xfrm>
            <a:off x="625145" y="502920"/>
            <a:ext cx="594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47AFB2B7-522E-E26C-5476-39D07E0D4E12}"/>
              </a:ext>
            </a:extLst>
          </p:cNvPr>
          <p:cNvSpPr/>
          <p:nvPr/>
        </p:nvSpPr>
        <p:spPr>
          <a:xfrm>
            <a:off x="1310945" y="393192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Contexte et problématique</a:t>
            </a:r>
            <a:endParaRPr lang="en-US" sz="25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77D0D6E2-50C1-DD68-EE02-161495ECBE1B}"/>
              </a:ext>
            </a:extLst>
          </p:cNvPr>
          <p:cNvSpPr/>
          <p:nvPr/>
        </p:nvSpPr>
        <p:spPr>
          <a:xfrm>
            <a:off x="1310945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F08DA433-FC5F-1B5C-6AA9-90BEB1B1740F}"/>
              </a:ext>
            </a:extLst>
          </p:cNvPr>
          <p:cNvSpPr>
            <a:spLocks noGrp="1"/>
          </p:cNvSpPr>
          <p:nvPr/>
        </p:nvSpPr>
        <p:spPr>
          <a:xfrm>
            <a:off x="11323625" y="6419088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​</a:t>
            </a:fld>
            <a:endParaRPr lang="en-US"/>
          </a:p>
        </p:txBody>
      </p:sp>
      <p:sp>
        <p:nvSpPr>
          <p:cNvPr id="18" name="Rounded Rectangle 25">
            <a:extLst>
              <a:ext uri="{FF2B5EF4-FFF2-40B4-BE49-F238E27FC236}">
                <a16:creationId xmlns:a16="http://schemas.microsoft.com/office/drawing/2014/main" id="{C8CFEE00-E8C5-9E88-EA29-D7B841391BEF}"/>
              </a:ext>
            </a:extLst>
          </p:cNvPr>
          <p:cNvSpPr/>
          <p:nvPr/>
        </p:nvSpPr>
        <p:spPr>
          <a:xfrm>
            <a:off x="1219505" y="1508759"/>
            <a:ext cx="5328440" cy="2633471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9" name="TextBox 26">
            <a:extLst>
              <a:ext uri="{FF2B5EF4-FFF2-40B4-BE49-F238E27FC236}">
                <a16:creationId xmlns:a16="http://schemas.microsoft.com/office/drawing/2014/main" id="{16F17C7D-F089-C84B-B821-983807F33F50}"/>
              </a:ext>
            </a:extLst>
          </p:cNvPr>
          <p:cNvSpPr txBox="1"/>
          <p:nvPr/>
        </p:nvSpPr>
        <p:spPr>
          <a:xfrm>
            <a:off x="1420673" y="1673351"/>
            <a:ext cx="4845034" cy="350865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00" b="1">
                <a:solidFill>
                  <a:srgbClr val="2563EB"/>
                </a:solidFill>
                <a:latin typeface="Aptos"/>
              </a:rPr>
              <a:t>Contexte</a:t>
            </a:r>
          </a:p>
        </p:txBody>
      </p:sp>
      <p:sp>
        <p:nvSpPr>
          <p:cNvPr id="20" name="TextBox 27">
            <a:extLst>
              <a:ext uri="{FF2B5EF4-FFF2-40B4-BE49-F238E27FC236}">
                <a16:creationId xmlns:a16="http://schemas.microsoft.com/office/drawing/2014/main" id="{EFA3CEE1-6432-B7F2-D6C8-9C6F036D9B44}"/>
              </a:ext>
            </a:extLst>
          </p:cNvPr>
          <p:cNvSpPr txBox="1"/>
          <p:nvPr/>
        </p:nvSpPr>
        <p:spPr>
          <a:xfrm>
            <a:off x="1475537" y="2130552"/>
            <a:ext cx="4801088" cy="19355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475569"/>
                </a:solidFill>
                <a:latin typeface="Aptos"/>
              </a:defRPr>
            </a:pPr>
            <a:r>
              <a:rPr dirty="0"/>
              <a:t>Les réseaux </a:t>
            </a:r>
            <a:r>
              <a:rPr dirty="0" err="1"/>
              <a:t>sociaux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X (</a:t>
            </a:r>
            <a:r>
              <a:rPr dirty="0" err="1"/>
              <a:t>anciennement</a:t>
            </a:r>
            <a:r>
              <a:rPr dirty="0"/>
              <a:t> Twitter) </a:t>
            </a:r>
            <a:r>
              <a:rPr dirty="0" err="1"/>
              <a:t>jouent</a:t>
            </a:r>
            <a:r>
              <a:rPr dirty="0"/>
              <a:t> un </a:t>
            </a:r>
            <a:r>
              <a:rPr dirty="0" err="1"/>
              <a:t>rôle</a:t>
            </a:r>
            <a:r>
              <a:rPr dirty="0"/>
              <a:t> </a:t>
            </a:r>
            <a:r>
              <a:rPr dirty="0" err="1"/>
              <a:t>majeur</a:t>
            </a:r>
            <a:r>
              <a:rPr dirty="0"/>
              <a:t> dans la diffusion de </a:t>
            </a:r>
            <a:r>
              <a:rPr dirty="0" err="1"/>
              <a:t>l’information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475569"/>
                </a:solidFill>
                <a:latin typeface="Aptos"/>
              </a:defRPr>
            </a:pPr>
            <a:r>
              <a:rPr dirty="0" err="1"/>
              <a:t>Certains</a:t>
            </a:r>
            <a:r>
              <a:rPr dirty="0"/>
              <a:t> </a:t>
            </a:r>
            <a:r>
              <a:rPr dirty="0" err="1"/>
              <a:t>comptes</a:t>
            </a:r>
            <a:r>
              <a:rPr dirty="0"/>
              <a:t> </a:t>
            </a:r>
            <a:r>
              <a:rPr dirty="0" err="1"/>
              <a:t>peuvent</a:t>
            </a:r>
            <a:r>
              <a:rPr dirty="0"/>
              <a:t> </a:t>
            </a:r>
            <a:r>
              <a:rPr dirty="0" err="1"/>
              <a:t>présenter</a:t>
            </a:r>
            <a:r>
              <a:rPr dirty="0"/>
              <a:t> des </a:t>
            </a:r>
            <a:r>
              <a:rPr dirty="0" err="1"/>
              <a:t>comportements</a:t>
            </a:r>
            <a:r>
              <a:rPr dirty="0"/>
              <a:t> </a:t>
            </a:r>
            <a:r>
              <a:rPr dirty="0" err="1"/>
              <a:t>atypiques</a:t>
            </a:r>
            <a:r>
              <a:rPr dirty="0"/>
              <a:t> : bots, </a:t>
            </a:r>
            <a:r>
              <a:rPr dirty="0" err="1"/>
              <a:t>spammeurs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comptes</a:t>
            </a:r>
            <a:r>
              <a:rPr dirty="0"/>
              <a:t> très </a:t>
            </a:r>
            <a:r>
              <a:rPr dirty="0" err="1"/>
              <a:t>automatisés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475569"/>
                </a:solidFill>
                <a:latin typeface="Aptos"/>
              </a:defRPr>
            </a:pP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profils</a:t>
            </a:r>
            <a:r>
              <a:rPr dirty="0"/>
              <a:t> </a:t>
            </a:r>
            <a:r>
              <a:rPr dirty="0" err="1"/>
              <a:t>peuvent</a:t>
            </a:r>
            <a:r>
              <a:rPr dirty="0"/>
              <a:t> influencer </a:t>
            </a:r>
            <a:r>
              <a:rPr dirty="0" err="1"/>
              <a:t>artificiellement</a:t>
            </a:r>
            <a:r>
              <a:rPr dirty="0"/>
              <a:t> la </a:t>
            </a:r>
            <a:r>
              <a:rPr dirty="0" err="1"/>
              <a:t>visibilité</a:t>
            </a:r>
            <a:r>
              <a:rPr dirty="0"/>
              <a:t> de </a:t>
            </a:r>
            <a:r>
              <a:rPr dirty="0" err="1"/>
              <a:t>certains</a:t>
            </a:r>
            <a:r>
              <a:rPr dirty="0"/>
              <a:t> </a:t>
            </a:r>
            <a:r>
              <a:rPr dirty="0" err="1"/>
              <a:t>contenus</a:t>
            </a:r>
            <a:r>
              <a:rPr dirty="0"/>
              <a:t>.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65E7D1E8-3222-2E8D-9E9A-35F31FB4AB72}"/>
              </a:ext>
            </a:extLst>
          </p:cNvPr>
          <p:cNvSpPr/>
          <p:nvPr/>
        </p:nvSpPr>
        <p:spPr>
          <a:xfrm>
            <a:off x="6888785" y="1528990"/>
            <a:ext cx="4434840" cy="2584057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0B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2" name="TextBox 29">
            <a:extLst>
              <a:ext uri="{FF2B5EF4-FFF2-40B4-BE49-F238E27FC236}">
                <a16:creationId xmlns:a16="http://schemas.microsoft.com/office/drawing/2014/main" id="{C3BA9543-ADDF-2BEC-45DA-D6466D5FB162}"/>
              </a:ext>
            </a:extLst>
          </p:cNvPr>
          <p:cNvSpPr txBox="1"/>
          <p:nvPr/>
        </p:nvSpPr>
        <p:spPr>
          <a:xfrm>
            <a:off x="7089953" y="1693582"/>
            <a:ext cx="4032503" cy="32004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00" b="1">
                <a:solidFill>
                  <a:srgbClr val="00B87C"/>
                </a:solidFill>
                <a:latin typeface="Aptos"/>
              </a:rPr>
              <a:t>Problématique</a:t>
            </a:r>
          </a:p>
        </p:txBody>
      </p:sp>
      <p:sp>
        <p:nvSpPr>
          <p:cNvPr id="23" name="TextBox 30">
            <a:extLst>
              <a:ext uri="{FF2B5EF4-FFF2-40B4-BE49-F238E27FC236}">
                <a16:creationId xmlns:a16="http://schemas.microsoft.com/office/drawing/2014/main" id="{CDDC3D7C-AF61-EDDA-CA59-676F04424BBB}"/>
              </a:ext>
            </a:extLst>
          </p:cNvPr>
          <p:cNvSpPr txBox="1"/>
          <p:nvPr/>
        </p:nvSpPr>
        <p:spPr>
          <a:xfrm>
            <a:off x="7144817" y="2150783"/>
            <a:ext cx="3995927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475569"/>
                </a:solidFill>
                <a:latin typeface="Aptos"/>
              </a:defRPr>
            </a:pPr>
            <a:r>
              <a:t>Comment détecter des profils atypiques sur X à partir de leurs caractéristiques sociales, textuelles et comportementales ?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500">
                <a:solidFill>
                  <a:srgbClr val="475569"/>
                </a:solidFill>
                <a:latin typeface="Aptos"/>
              </a:defRPr>
            </a:pPr>
            <a:r>
              <a:t>Comment comparer une approche non supervisée et une approche supervisée pour cette tâche ?</a:t>
            </a:r>
          </a:p>
        </p:txBody>
      </p:sp>
      <p:sp>
        <p:nvSpPr>
          <p:cNvPr id="24" name="TextBox 31">
            <a:extLst>
              <a:ext uri="{FF2B5EF4-FFF2-40B4-BE49-F238E27FC236}">
                <a16:creationId xmlns:a16="http://schemas.microsoft.com/office/drawing/2014/main" id="{1203590E-78B0-36D7-2980-E26C1D87D20B}"/>
              </a:ext>
            </a:extLst>
          </p:cNvPr>
          <p:cNvSpPr txBox="1"/>
          <p:nvPr/>
        </p:nvSpPr>
        <p:spPr>
          <a:xfrm>
            <a:off x="1591208" y="4599430"/>
            <a:ext cx="9144000" cy="38404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0D1F39"/>
                </a:solidFill>
                <a:latin typeface="Aptos"/>
              </a:rPr>
              <a:t>Notre idée : transformer les tweets bruts en profils utilisateurs analysables.</a:t>
            </a:r>
          </a:p>
        </p:txBody>
      </p:sp>
      <p:sp>
        <p:nvSpPr>
          <p:cNvPr id="26" name="Rounded Rectangle 32">
            <a:extLst>
              <a:ext uri="{FF2B5EF4-FFF2-40B4-BE49-F238E27FC236}">
                <a16:creationId xmlns:a16="http://schemas.microsoft.com/office/drawing/2014/main" id="{595D1606-1569-C16E-4DFC-D05E2CBE8CC0}"/>
              </a:ext>
            </a:extLst>
          </p:cNvPr>
          <p:cNvSpPr/>
          <p:nvPr/>
        </p:nvSpPr>
        <p:spPr>
          <a:xfrm>
            <a:off x="1865527" y="5148070"/>
            <a:ext cx="2423160" cy="7772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7" name="TextBox 33">
            <a:extLst>
              <a:ext uri="{FF2B5EF4-FFF2-40B4-BE49-F238E27FC236}">
                <a16:creationId xmlns:a16="http://schemas.microsoft.com/office/drawing/2014/main" id="{3FB385A0-F2B6-F9E8-CFEF-00A36005B0E1}"/>
              </a:ext>
            </a:extLst>
          </p:cNvPr>
          <p:cNvSpPr txBox="1"/>
          <p:nvPr/>
        </p:nvSpPr>
        <p:spPr>
          <a:xfrm>
            <a:off x="1956968" y="5230366"/>
            <a:ext cx="2240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2563EB"/>
                </a:solidFill>
                <a:latin typeface="Aptos"/>
              </a:rPr>
              <a:t>Données sociales</a:t>
            </a:r>
          </a:p>
        </p:txBody>
      </p:sp>
      <p:sp>
        <p:nvSpPr>
          <p:cNvPr id="28" name="TextBox 34">
            <a:extLst>
              <a:ext uri="{FF2B5EF4-FFF2-40B4-BE49-F238E27FC236}">
                <a16:creationId xmlns:a16="http://schemas.microsoft.com/office/drawing/2014/main" id="{31A80314-8C90-9799-BA51-B2551402A0CB}"/>
              </a:ext>
            </a:extLst>
          </p:cNvPr>
          <p:cNvSpPr txBox="1"/>
          <p:nvPr/>
        </p:nvSpPr>
        <p:spPr>
          <a:xfrm>
            <a:off x="2006622" y="5477254"/>
            <a:ext cx="2140971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dirty="0">
                <a:solidFill>
                  <a:srgbClr val="475569"/>
                </a:solidFill>
                <a:latin typeface="Aptos"/>
              </a:rPr>
              <a:t>followers, friends,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listes</a:t>
            </a:r>
            <a:endParaRPr sz="1500" dirty="0">
              <a:solidFill>
                <a:srgbClr val="475569"/>
              </a:solidFill>
              <a:latin typeface="Aptos"/>
            </a:endParaRPr>
          </a:p>
        </p:txBody>
      </p:sp>
      <p:sp>
        <p:nvSpPr>
          <p:cNvPr id="29" name="Rounded Rectangle 35">
            <a:extLst>
              <a:ext uri="{FF2B5EF4-FFF2-40B4-BE49-F238E27FC236}">
                <a16:creationId xmlns:a16="http://schemas.microsoft.com/office/drawing/2014/main" id="{8586F3D0-8C64-FFB7-68E1-A22B8A137EE5}"/>
              </a:ext>
            </a:extLst>
          </p:cNvPr>
          <p:cNvSpPr/>
          <p:nvPr/>
        </p:nvSpPr>
        <p:spPr>
          <a:xfrm>
            <a:off x="4745887" y="5148070"/>
            <a:ext cx="2423160" cy="7772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0" name="TextBox 36">
            <a:extLst>
              <a:ext uri="{FF2B5EF4-FFF2-40B4-BE49-F238E27FC236}">
                <a16:creationId xmlns:a16="http://schemas.microsoft.com/office/drawing/2014/main" id="{F39CA880-6081-A585-EB1C-0AE6CD663F5A}"/>
              </a:ext>
            </a:extLst>
          </p:cNvPr>
          <p:cNvSpPr txBox="1"/>
          <p:nvPr/>
        </p:nvSpPr>
        <p:spPr>
          <a:xfrm>
            <a:off x="4837327" y="5230366"/>
            <a:ext cx="2240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Comportement</a:t>
            </a:r>
          </a:p>
        </p:txBody>
      </p:sp>
      <p:sp>
        <p:nvSpPr>
          <p:cNvPr id="31" name="TextBox 37">
            <a:extLst>
              <a:ext uri="{FF2B5EF4-FFF2-40B4-BE49-F238E27FC236}">
                <a16:creationId xmlns:a16="http://schemas.microsoft.com/office/drawing/2014/main" id="{6A86F2C0-C714-A4D8-CC47-3CB4AB400E06}"/>
              </a:ext>
            </a:extLst>
          </p:cNvPr>
          <p:cNvSpPr txBox="1"/>
          <p:nvPr/>
        </p:nvSpPr>
        <p:spPr>
          <a:xfrm>
            <a:off x="4734728" y="5477254"/>
            <a:ext cx="244547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dirty="0" err="1">
                <a:solidFill>
                  <a:srgbClr val="475569"/>
                </a:solidFill>
                <a:latin typeface="Aptos"/>
              </a:rPr>
              <a:t>activité</a:t>
            </a:r>
            <a:r>
              <a:rPr sz="1500" dirty="0">
                <a:solidFill>
                  <a:srgbClr val="475569"/>
                </a:solidFill>
                <a:latin typeface="Aptos"/>
              </a:rPr>
              <a:t>, retweets, hashtags</a:t>
            </a:r>
          </a:p>
        </p:txBody>
      </p:sp>
      <p:sp>
        <p:nvSpPr>
          <p:cNvPr id="32" name="Rounded Rectangle 38">
            <a:extLst>
              <a:ext uri="{FF2B5EF4-FFF2-40B4-BE49-F238E27FC236}">
                <a16:creationId xmlns:a16="http://schemas.microsoft.com/office/drawing/2014/main" id="{4EBED007-7A2E-E3A9-BC21-8A7EB1D14AAC}"/>
              </a:ext>
            </a:extLst>
          </p:cNvPr>
          <p:cNvSpPr/>
          <p:nvPr/>
        </p:nvSpPr>
        <p:spPr>
          <a:xfrm>
            <a:off x="7626248" y="5148070"/>
            <a:ext cx="2423160" cy="7772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0B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3" name="TextBox 39">
            <a:extLst>
              <a:ext uri="{FF2B5EF4-FFF2-40B4-BE49-F238E27FC236}">
                <a16:creationId xmlns:a16="http://schemas.microsoft.com/office/drawing/2014/main" id="{B60FD3F6-74AD-745A-F081-4FEE44AB1280}"/>
              </a:ext>
            </a:extLst>
          </p:cNvPr>
          <p:cNvSpPr txBox="1"/>
          <p:nvPr/>
        </p:nvSpPr>
        <p:spPr>
          <a:xfrm>
            <a:off x="7717687" y="5230366"/>
            <a:ext cx="2240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B87C"/>
                </a:solidFill>
                <a:latin typeface="Aptos"/>
              </a:rPr>
              <a:t>Modèles</a:t>
            </a:r>
          </a:p>
        </p:txBody>
      </p:sp>
      <p:sp>
        <p:nvSpPr>
          <p:cNvPr id="34" name="TextBox 40">
            <a:extLst>
              <a:ext uri="{FF2B5EF4-FFF2-40B4-BE49-F238E27FC236}">
                <a16:creationId xmlns:a16="http://schemas.microsoft.com/office/drawing/2014/main" id="{E29AB726-497D-F9C1-7641-326A6FFA97AC}"/>
              </a:ext>
            </a:extLst>
          </p:cNvPr>
          <p:cNvSpPr txBox="1"/>
          <p:nvPr/>
        </p:nvSpPr>
        <p:spPr>
          <a:xfrm>
            <a:off x="7632754" y="5477254"/>
            <a:ext cx="2410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dirty="0">
                <a:solidFill>
                  <a:srgbClr val="475569"/>
                </a:solidFill>
                <a:latin typeface="Aptos"/>
              </a:rPr>
              <a:t>K-Means et Random Forest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" name="TextBox 25">
            <a:extLst>
              <a:ext uri="{FF2B5EF4-FFF2-40B4-BE49-F238E27FC236}">
                <a16:creationId xmlns:a16="http://schemas.microsoft.com/office/drawing/2014/main" id="{9868E4D6-BE34-7248-D32D-DBD6EF9B8AFE}"/>
              </a:ext>
            </a:extLst>
          </p:cNvPr>
          <p:cNvSpPr txBox="1"/>
          <p:nvPr/>
        </p:nvSpPr>
        <p:spPr>
          <a:xfrm>
            <a:off x="1032560" y="1015860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 b="1">
                <a:solidFill>
                  <a:srgbClr val="081D3C"/>
                </a:solidFill>
                <a:latin typeface="Aptos"/>
              </a:rPr>
              <a:t>Le projet suit quatre objectifs principaux :</a:t>
            </a:r>
          </a:p>
        </p:txBody>
      </p:sp>
      <p:sp>
        <p:nvSpPr>
          <p:cNvPr id="15" name="Rounded Rectangle 26">
            <a:extLst>
              <a:ext uri="{FF2B5EF4-FFF2-40B4-BE49-F238E27FC236}">
                <a16:creationId xmlns:a16="http://schemas.microsoft.com/office/drawing/2014/main" id="{95F900C9-7F08-7B54-73EC-3C3E25C4BE5F}"/>
              </a:ext>
            </a:extLst>
          </p:cNvPr>
          <p:cNvSpPr/>
          <p:nvPr/>
        </p:nvSpPr>
        <p:spPr>
          <a:xfrm>
            <a:off x="758240" y="1564500"/>
            <a:ext cx="4800600" cy="1417320"/>
          </a:xfrm>
          <a:prstGeom prst="roundRect">
            <a:avLst/>
          </a:prstGeom>
          <a:solidFill>
            <a:srgbClr val="EFF6FF"/>
          </a:solidFill>
          <a:ln w="2286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6" name="Oval 27">
            <a:extLst>
              <a:ext uri="{FF2B5EF4-FFF2-40B4-BE49-F238E27FC236}">
                <a16:creationId xmlns:a16="http://schemas.microsoft.com/office/drawing/2014/main" id="{36688EB1-4BBF-7A8E-2A46-FD14896AA101}"/>
              </a:ext>
            </a:extLst>
          </p:cNvPr>
          <p:cNvSpPr/>
          <p:nvPr/>
        </p:nvSpPr>
        <p:spPr>
          <a:xfrm>
            <a:off x="986840" y="1765668"/>
            <a:ext cx="384048" cy="384048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7" name="TextBox 28">
            <a:extLst>
              <a:ext uri="{FF2B5EF4-FFF2-40B4-BE49-F238E27FC236}">
                <a16:creationId xmlns:a16="http://schemas.microsoft.com/office/drawing/2014/main" id="{F8F0300B-DB3E-14E7-73DE-79D6C66944EA}"/>
              </a:ext>
            </a:extLst>
          </p:cNvPr>
          <p:cNvSpPr txBox="1"/>
          <p:nvPr/>
        </p:nvSpPr>
        <p:spPr>
          <a:xfrm>
            <a:off x="1489760" y="1729092"/>
            <a:ext cx="3403047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700" b="1" dirty="0" err="1">
                <a:solidFill>
                  <a:srgbClr val="2563EB"/>
                </a:solidFill>
                <a:latin typeface="Aptos"/>
              </a:rPr>
              <a:t>Construire</a:t>
            </a:r>
            <a:r>
              <a:rPr sz="1700" b="1" dirty="0">
                <a:solidFill>
                  <a:srgbClr val="2563EB"/>
                </a:solidFill>
                <a:latin typeface="Aptos"/>
              </a:rPr>
              <a:t> un dataset </a:t>
            </a:r>
            <a:r>
              <a:rPr sz="1700" b="1" dirty="0" err="1">
                <a:solidFill>
                  <a:srgbClr val="2563EB"/>
                </a:solidFill>
                <a:latin typeface="Aptos"/>
              </a:rPr>
              <a:t>utilisateur</a:t>
            </a:r>
            <a:endParaRPr sz="1700" b="1" dirty="0">
              <a:solidFill>
                <a:srgbClr val="2563EB"/>
              </a:solidFill>
              <a:latin typeface="Aptos"/>
            </a:endParaRPr>
          </a:p>
        </p:txBody>
      </p:sp>
      <p:sp>
        <p:nvSpPr>
          <p:cNvPr id="18" name="TextBox 29">
            <a:extLst>
              <a:ext uri="{FF2B5EF4-FFF2-40B4-BE49-F238E27FC236}">
                <a16:creationId xmlns:a16="http://schemas.microsoft.com/office/drawing/2014/main" id="{C1F517AD-B35D-11B8-6D8C-8A2FD890E391}"/>
              </a:ext>
            </a:extLst>
          </p:cNvPr>
          <p:cNvSpPr txBox="1"/>
          <p:nvPr/>
        </p:nvSpPr>
        <p:spPr>
          <a:xfrm>
            <a:off x="1078280" y="2277732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500" dirty="0">
                <a:solidFill>
                  <a:srgbClr val="475569"/>
                </a:solidFill>
                <a:latin typeface="Aptos"/>
              </a:rPr>
              <a:t>Transformer les tweets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bruts</a:t>
            </a:r>
            <a:r>
              <a:rPr sz="150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en</a:t>
            </a:r>
            <a:r>
              <a:rPr sz="150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profils</a:t>
            </a:r>
            <a:r>
              <a:rPr sz="150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utilisateurs</a:t>
            </a:r>
            <a:r>
              <a:rPr sz="1500" dirty="0">
                <a:solidFill>
                  <a:srgbClr val="475569"/>
                </a:solidFill>
                <a:latin typeface="Aptos"/>
              </a:rPr>
              <a:t>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analysables</a:t>
            </a:r>
            <a:r>
              <a:rPr sz="150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19" name="Rounded Rectangle 30">
            <a:extLst>
              <a:ext uri="{FF2B5EF4-FFF2-40B4-BE49-F238E27FC236}">
                <a16:creationId xmlns:a16="http://schemas.microsoft.com/office/drawing/2014/main" id="{6AF475EF-3EDC-BA5F-9048-E5C8F28EAA57}"/>
              </a:ext>
            </a:extLst>
          </p:cNvPr>
          <p:cNvSpPr/>
          <p:nvPr/>
        </p:nvSpPr>
        <p:spPr>
          <a:xfrm>
            <a:off x="6061760" y="1564500"/>
            <a:ext cx="4800600" cy="1417320"/>
          </a:xfrm>
          <a:prstGeom prst="roundRect">
            <a:avLst/>
          </a:prstGeom>
          <a:solidFill>
            <a:srgbClr val="ECFDF5"/>
          </a:solidFill>
          <a:ln w="22860">
            <a:solidFill>
              <a:srgbClr val="00B0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" name="Oval 31">
            <a:extLst>
              <a:ext uri="{FF2B5EF4-FFF2-40B4-BE49-F238E27FC236}">
                <a16:creationId xmlns:a16="http://schemas.microsoft.com/office/drawing/2014/main" id="{07EFC5C4-F42B-F3E8-76D9-9CF17C6E809D}"/>
              </a:ext>
            </a:extLst>
          </p:cNvPr>
          <p:cNvSpPr/>
          <p:nvPr/>
        </p:nvSpPr>
        <p:spPr>
          <a:xfrm>
            <a:off x="6290360" y="1765668"/>
            <a:ext cx="384048" cy="384048"/>
          </a:xfrm>
          <a:prstGeom prst="ellipse">
            <a:avLst/>
          </a:prstGeom>
          <a:solidFill>
            <a:srgbClr val="00B07E"/>
          </a:solidFill>
          <a:ln>
            <a:solidFill>
              <a:srgbClr val="00B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32">
            <a:extLst>
              <a:ext uri="{FF2B5EF4-FFF2-40B4-BE49-F238E27FC236}">
                <a16:creationId xmlns:a16="http://schemas.microsoft.com/office/drawing/2014/main" id="{86B2DCCB-FCB7-22A1-70DC-05A5CBE73CC0}"/>
              </a:ext>
            </a:extLst>
          </p:cNvPr>
          <p:cNvSpPr txBox="1"/>
          <p:nvPr/>
        </p:nvSpPr>
        <p:spPr>
          <a:xfrm>
            <a:off x="6793280" y="1729092"/>
            <a:ext cx="359303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700" b="1" dirty="0" err="1">
                <a:solidFill>
                  <a:srgbClr val="00B07E"/>
                </a:solidFill>
                <a:latin typeface="Aptos"/>
              </a:rPr>
              <a:t>Extraire</a:t>
            </a:r>
            <a:r>
              <a:rPr sz="1700" b="1" dirty="0">
                <a:solidFill>
                  <a:srgbClr val="00B07E"/>
                </a:solidFill>
                <a:latin typeface="Aptos"/>
              </a:rPr>
              <a:t> des </a:t>
            </a:r>
            <a:r>
              <a:rPr sz="1700" b="1" dirty="0" err="1">
                <a:solidFill>
                  <a:srgbClr val="00B07E"/>
                </a:solidFill>
                <a:latin typeface="Aptos"/>
              </a:rPr>
              <a:t>indicateurs</a:t>
            </a:r>
            <a:r>
              <a:rPr sz="1700" b="1" dirty="0">
                <a:solidFill>
                  <a:srgbClr val="00B07E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00B07E"/>
                </a:solidFill>
                <a:latin typeface="Aptos"/>
              </a:rPr>
              <a:t>pertinents</a:t>
            </a:r>
            <a:endParaRPr sz="1700" b="1" dirty="0">
              <a:solidFill>
                <a:srgbClr val="00B07E"/>
              </a:solidFill>
              <a:latin typeface="Aptos"/>
            </a:endParaRP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2F405B09-029D-46AB-0C81-5AD118012269}"/>
              </a:ext>
            </a:extLst>
          </p:cNvPr>
          <p:cNvSpPr txBox="1"/>
          <p:nvPr/>
        </p:nvSpPr>
        <p:spPr>
          <a:xfrm>
            <a:off x="6381800" y="2277732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500" dirty="0" err="1">
                <a:solidFill>
                  <a:srgbClr val="475569"/>
                </a:solidFill>
                <a:latin typeface="Aptos"/>
              </a:rPr>
              <a:t>Extraire</a:t>
            </a:r>
            <a:r>
              <a:rPr sz="1500" dirty="0">
                <a:solidFill>
                  <a:srgbClr val="475569"/>
                </a:solidFill>
                <a:latin typeface="Aptos"/>
              </a:rPr>
              <a:t> des variables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sociales</a:t>
            </a:r>
            <a:r>
              <a:rPr sz="1500" dirty="0">
                <a:solidFill>
                  <a:srgbClr val="475569"/>
                </a:solidFill>
                <a:latin typeface="Aptos"/>
              </a:rPr>
              <a:t>,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textuelles</a:t>
            </a:r>
            <a:r>
              <a:rPr sz="1500" dirty="0">
                <a:solidFill>
                  <a:srgbClr val="475569"/>
                </a:solidFill>
                <a:latin typeface="Aptos"/>
              </a:rPr>
              <a:t> et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comportementales</a:t>
            </a:r>
            <a:r>
              <a:rPr sz="1500" dirty="0">
                <a:solidFill>
                  <a:srgbClr val="475569"/>
                </a:solidFill>
                <a:latin typeface="Aptos"/>
              </a:rPr>
              <a:t>.</a:t>
            </a:r>
          </a:p>
        </p:txBody>
      </p:sp>
      <p:sp>
        <p:nvSpPr>
          <p:cNvPr id="23" name="Rounded Rectangle 34">
            <a:extLst>
              <a:ext uri="{FF2B5EF4-FFF2-40B4-BE49-F238E27FC236}">
                <a16:creationId xmlns:a16="http://schemas.microsoft.com/office/drawing/2014/main" id="{7E3C38ED-92A9-1A19-59AE-B069143B3EDB}"/>
              </a:ext>
            </a:extLst>
          </p:cNvPr>
          <p:cNvSpPr/>
          <p:nvPr/>
        </p:nvSpPr>
        <p:spPr>
          <a:xfrm>
            <a:off x="758240" y="3301860"/>
            <a:ext cx="4800600" cy="1417320"/>
          </a:xfrm>
          <a:prstGeom prst="roundRect">
            <a:avLst/>
          </a:prstGeom>
          <a:solidFill>
            <a:srgbClr val="FFF7ED"/>
          </a:solidFill>
          <a:ln w="22860">
            <a:solidFill>
              <a:srgbClr val="F5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4" name="Oval 35">
            <a:extLst>
              <a:ext uri="{FF2B5EF4-FFF2-40B4-BE49-F238E27FC236}">
                <a16:creationId xmlns:a16="http://schemas.microsoft.com/office/drawing/2014/main" id="{DE375BFF-D8DA-7CB4-7C98-88AF8DA781E1}"/>
              </a:ext>
            </a:extLst>
          </p:cNvPr>
          <p:cNvSpPr/>
          <p:nvPr/>
        </p:nvSpPr>
        <p:spPr>
          <a:xfrm>
            <a:off x="986840" y="3503028"/>
            <a:ext cx="384048" cy="384048"/>
          </a:xfrm>
          <a:prstGeom prst="ellipse">
            <a:avLst/>
          </a:prstGeom>
          <a:solidFill>
            <a:srgbClr val="F58E00"/>
          </a:solidFill>
          <a:ln>
            <a:solidFill>
              <a:srgbClr val="F58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36">
            <a:extLst>
              <a:ext uri="{FF2B5EF4-FFF2-40B4-BE49-F238E27FC236}">
                <a16:creationId xmlns:a16="http://schemas.microsoft.com/office/drawing/2014/main" id="{0678588A-0914-9A9C-1065-FAD190648CDB}"/>
              </a:ext>
            </a:extLst>
          </p:cNvPr>
          <p:cNvSpPr txBox="1"/>
          <p:nvPr/>
        </p:nvSpPr>
        <p:spPr>
          <a:xfrm>
            <a:off x="1489760" y="3466452"/>
            <a:ext cx="2788712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700" b="1">
                <a:solidFill>
                  <a:srgbClr val="F58E00"/>
                </a:solidFill>
                <a:latin typeface="Aptos"/>
              </a:rPr>
              <a:t>Appliquer deux approches</a:t>
            </a:r>
          </a:p>
        </p:txBody>
      </p:sp>
      <p:sp>
        <p:nvSpPr>
          <p:cNvPr id="27" name="TextBox 37">
            <a:extLst>
              <a:ext uri="{FF2B5EF4-FFF2-40B4-BE49-F238E27FC236}">
                <a16:creationId xmlns:a16="http://schemas.microsoft.com/office/drawing/2014/main" id="{556A71E8-6C9C-CBDE-FD6E-06D0CB4A037C}"/>
              </a:ext>
            </a:extLst>
          </p:cNvPr>
          <p:cNvSpPr txBox="1"/>
          <p:nvPr/>
        </p:nvSpPr>
        <p:spPr>
          <a:xfrm>
            <a:off x="1078279" y="4015092"/>
            <a:ext cx="461772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500" dirty="0">
                <a:solidFill>
                  <a:srgbClr val="475569"/>
                </a:solidFill>
                <a:latin typeface="Aptos"/>
              </a:rPr>
              <a:t>Comparer K-Means (non 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supervisé</a:t>
            </a:r>
            <a:r>
              <a:rPr sz="1500" dirty="0">
                <a:solidFill>
                  <a:srgbClr val="475569"/>
                </a:solidFill>
                <a:latin typeface="Aptos"/>
              </a:rPr>
              <a:t>) et Random Forest (</a:t>
            </a:r>
            <a:r>
              <a:rPr sz="1500" dirty="0" err="1">
                <a:solidFill>
                  <a:srgbClr val="475569"/>
                </a:solidFill>
                <a:latin typeface="Aptos"/>
              </a:rPr>
              <a:t>supervisé</a:t>
            </a:r>
            <a:r>
              <a:rPr sz="1500" dirty="0">
                <a:solidFill>
                  <a:srgbClr val="475569"/>
                </a:solidFill>
                <a:latin typeface="Aptos"/>
              </a:rPr>
              <a:t>).</a:t>
            </a:r>
          </a:p>
        </p:txBody>
      </p:sp>
      <p:sp>
        <p:nvSpPr>
          <p:cNvPr id="28" name="Rounded Rectangle 38">
            <a:extLst>
              <a:ext uri="{FF2B5EF4-FFF2-40B4-BE49-F238E27FC236}">
                <a16:creationId xmlns:a16="http://schemas.microsoft.com/office/drawing/2014/main" id="{44A1905A-CAEF-5949-5EA4-AE6B3AB23862}"/>
              </a:ext>
            </a:extLst>
          </p:cNvPr>
          <p:cNvSpPr/>
          <p:nvPr/>
        </p:nvSpPr>
        <p:spPr>
          <a:xfrm>
            <a:off x="6061760" y="3301860"/>
            <a:ext cx="4800600" cy="1417320"/>
          </a:xfrm>
          <a:prstGeom prst="roundRect">
            <a:avLst/>
          </a:prstGeom>
          <a:solidFill>
            <a:srgbClr val="EFF6FF"/>
          </a:solidFill>
          <a:ln w="2286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9" name="Oval 39">
            <a:extLst>
              <a:ext uri="{FF2B5EF4-FFF2-40B4-BE49-F238E27FC236}">
                <a16:creationId xmlns:a16="http://schemas.microsoft.com/office/drawing/2014/main" id="{3910A36F-6BBE-FA46-621D-78EF080826BE}"/>
              </a:ext>
            </a:extLst>
          </p:cNvPr>
          <p:cNvSpPr/>
          <p:nvPr/>
        </p:nvSpPr>
        <p:spPr>
          <a:xfrm>
            <a:off x="6290360" y="3503028"/>
            <a:ext cx="384048" cy="384048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40">
            <a:extLst>
              <a:ext uri="{FF2B5EF4-FFF2-40B4-BE49-F238E27FC236}">
                <a16:creationId xmlns:a16="http://schemas.microsoft.com/office/drawing/2014/main" id="{DFBA0964-B0AF-1252-C805-D957F3D6D433}"/>
              </a:ext>
            </a:extLst>
          </p:cNvPr>
          <p:cNvSpPr txBox="1"/>
          <p:nvPr/>
        </p:nvSpPr>
        <p:spPr>
          <a:xfrm>
            <a:off x="6793280" y="3466452"/>
            <a:ext cx="3580724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700" b="1">
                <a:solidFill>
                  <a:srgbClr val="2563EB"/>
                </a:solidFill>
                <a:latin typeface="Aptos"/>
              </a:rPr>
              <a:t>Analyser et comparer les résultats</a:t>
            </a:r>
          </a:p>
        </p:txBody>
      </p:sp>
      <p:sp>
        <p:nvSpPr>
          <p:cNvPr id="31" name="TextBox 41">
            <a:extLst>
              <a:ext uri="{FF2B5EF4-FFF2-40B4-BE49-F238E27FC236}">
                <a16:creationId xmlns:a16="http://schemas.microsoft.com/office/drawing/2014/main" id="{21F19424-BEC0-D09B-5875-95B52940E097}"/>
              </a:ext>
            </a:extLst>
          </p:cNvPr>
          <p:cNvSpPr txBox="1"/>
          <p:nvPr/>
        </p:nvSpPr>
        <p:spPr>
          <a:xfrm>
            <a:off x="6381799" y="4015092"/>
            <a:ext cx="461772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500">
                <a:solidFill>
                  <a:srgbClr val="475569"/>
                </a:solidFill>
                <a:latin typeface="Aptos"/>
              </a:rPr>
              <a:t>Évaluer les apports, les limites et la complémentarité des deux méthodes.</a:t>
            </a:r>
          </a:p>
        </p:txBody>
      </p:sp>
      <p:sp>
        <p:nvSpPr>
          <p:cNvPr id="32" name="Rounded Rectangle 42">
            <a:extLst>
              <a:ext uri="{FF2B5EF4-FFF2-40B4-BE49-F238E27FC236}">
                <a16:creationId xmlns:a16="http://schemas.microsoft.com/office/drawing/2014/main" id="{0ED62813-BE8D-06F1-1039-FEB390784009}"/>
              </a:ext>
            </a:extLst>
          </p:cNvPr>
          <p:cNvSpPr/>
          <p:nvPr/>
        </p:nvSpPr>
        <p:spPr>
          <a:xfrm>
            <a:off x="1032560" y="5222100"/>
            <a:ext cx="946404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>
                <a:solidFill>
                  <a:srgbClr val="081D3C"/>
                </a:solidFill>
                <a:latin typeface="Aptos"/>
              </a:rPr>
              <a:t>Objectif final : identifier des profils atypiques à partir de données sociales et comportementales.</a:t>
            </a:r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ECC86562-9975-3963-AAE5-5F9F7BC4C457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41166BE-1F74-B091-18ED-99398E1D7BD3}"/>
              </a:ext>
            </a:extLst>
          </p:cNvPr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</a:rPr>
              <a:t>03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2F0065F3-661C-037D-B1F2-8B4D21038FED}"/>
              </a:ext>
            </a:extLst>
          </p:cNvPr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CN" sz="25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Objectifs</a:t>
            </a:r>
            <a:r>
              <a:rPr lang="en-US" altLang="zh-CN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du </a:t>
            </a:r>
            <a:r>
              <a:rPr lang="en-US" altLang="zh-CN" sz="25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projet</a:t>
            </a:r>
            <a:endParaRPr lang="en-US" altLang="zh-CN" sz="250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A4E9B1AC-39D1-E0A6-7780-3FC525950D45}"/>
              </a:ext>
            </a:extLst>
          </p:cNvPr>
          <p:cNvSpPr/>
          <p:nvPr/>
        </p:nvSpPr>
        <p:spPr>
          <a:xfrm>
            <a:off x="1325880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32163" y="-452628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997135" y="-141732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Définition d’un profil atypique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25880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49808" y="1307592"/>
            <a:ext cx="10195560" cy="868680"/>
          </a:xfrm>
          <a:prstGeom prst="roundRect">
            <a:avLst/>
          </a:prstGeom>
          <a:solidFill>
            <a:srgbClr val="F8FBFF"/>
          </a:solidFill>
          <a:ln w="1524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4400" y="1504988"/>
            <a:ext cx="1956241" cy="2985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Définition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générale</a:t>
            </a:r>
            <a:endParaRPr kumimoji="0" sz="1700" b="1" i="0" u="none" strike="noStrike" kern="1200" cap="none" spc="0" normalizeH="0" baseline="0" noProof="0" dirty="0">
              <a:ln>
                <a:noFill/>
              </a:ln>
              <a:solidFill>
                <a:srgbClr val="2563EB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56531" y="1500635"/>
            <a:ext cx="6708118" cy="56015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profil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atypique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est un compte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dont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les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caractéristiques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sociales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srgbClr val="0A2042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comportementales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s’écartent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fortement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de la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majorité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des </a:t>
            </a:r>
            <a:r>
              <a:rPr kumimoji="0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utilisateurs</a:t>
            </a:r>
            <a:r>
              <a:rPr kumimoji="0" sz="1700" b="0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2423160"/>
            <a:ext cx="8686800" cy="32004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Dans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notre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projet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nous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observons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quatre dimensions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principales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2880360"/>
            <a:ext cx="4800600" cy="1024128"/>
          </a:xfrm>
          <a:prstGeom prst="roundRect">
            <a:avLst/>
          </a:prstGeom>
          <a:solidFill>
            <a:srgbClr val="EFF6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914400" y="3044952"/>
            <a:ext cx="347472" cy="34747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08176" y="3044952"/>
            <a:ext cx="1823256" cy="2985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Activité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anormale</a:t>
            </a:r>
            <a:endParaRPr kumimoji="0" sz="1700" b="1" i="0" u="none" strike="noStrike" kern="1200" cap="none" spc="0" normalizeH="0" baseline="0" noProof="0" dirty="0">
              <a:ln>
                <a:noFill/>
              </a:ln>
              <a:solidFill>
                <a:srgbClr val="2563EB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325880" y="3363204"/>
            <a:ext cx="4160520" cy="500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Nombre de tweets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élevé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activité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très intense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880360"/>
            <a:ext cx="4800600" cy="1024128"/>
          </a:xfrm>
          <a:prstGeom prst="roundRect">
            <a:avLst/>
          </a:prstGeom>
          <a:solidFill>
            <a:srgbClr val="E8F8F1"/>
          </a:solidFill>
          <a:ln w="20320">
            <a:solidFill>
              <a:srgbClr val="00B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5971031" y="3044952"/>
            <a:ext cx="347472" cy="347472"/>
          </a:xfrm>
          <a:prstGeom prst="ellipse">
            <a:avLst/>
          </a:prstGeom>
          <a:solidFill>
            <a:srgbClr val="00B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7" y="3044952"/>
            <a:ext cx="2139817" cy="2985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0B08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Visibilité</a:t>
            </a:r>
            <a:r>
              <a:rPr kumimoji="0" sz="1700" b="1" i="0" u="none" strike="noStrike" kern="1200" cap="none" spc="0" normalizeH="0" baseline="0" noProof="0" dirty="0">
                <a:ln>
                  <a:noFill/>
                </a:ln>
                <a:solidFill>
                  <a:srgbClr val="00B08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700" b="1" i="0" u="none" strike="noStrike" kern="1200" cap="none" spc="0" normalizeH="0" baseline="0" noProof="0" dirty="0" err="1">
                <a:ln>
                  <a:noFill/>
                </a:ln>
                <a:solidFill>
                  <a:srgbClr val="00B08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particulière</a:t>
            </a:r>
            <a:endParaRPr kumimoji="0" sz="1700" b="1" i="0" u="none" strike="noStrike" kern="1200" cap="none" spc="0" normalizeH="0" baseline="0" noProof="0" dirty="0">
              <a:ln>
                <a:noFill/>
              </a:ln>
              <a:solidFill>
                <a:srgbClr val="00B087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82511" y="3386768"/>
            <a:ext cx="4160520" cy="500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Beaucoup de followers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listed_count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élevé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49808" y="4160520"/>
            <a:ext cx="4800600" cy="1024128"/>
          </a:xfrm>
          <a:prstGeom prst="roundRect">
            <a:avLst/>
          </a:prstGeom>
          <a:solidFill>
            <a:srgbClr val="FFF8ED"/>
          </a:solidFill>
          <a:ln w="20320">
            <a:solidFill>
              <a:srgbClr val="F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914400" y="4325112"/>
            <a:ext cx="347472" cy="347472"/>
          </a:xfrm>
          <a:prstGeom prst="ellipse">
            <a:avLst/>
          </a:prstGeom>
          <a:solidFill>
            <a:srgbClr val="F58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08176" y="4325112"/>
            <a:ext cx="2287999" cy="2985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F589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Ratio social inhabituel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4640580"/>
            <a:ext cx="4160520" cy="500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Déséquilibre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entre followers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et friends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6440" y="4160520"/>
            <a:ext cx="4800600" cy="1024128"/>
          </a:xfrm>
          <a:prstGeom prst="roundRect">
            <a:avLst/>
          </a:prstGeom>
          <a:solidFill>
            <a:srgbClr val="EFF6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971031" y="4325112"/>
            <a:ext cx="347472" cy="34747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7" y="4325112"/>
            <a:ext cx="2759923" cy="298543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Comportement de contenu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1" y="4656582"/>
            <a:ext cx="4160520" cy="500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Usage important de hashtags,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250">
                <a:solidFill>
                  <a:srgbClr val="475569"/>
                </a:solidFill>
                <a:latin typeface="Aptos"/>
              </a:defRPr>
            </a:pP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URLs </a:t>
            </a:r>
            <a:r>
              <a:rPr kumimoji="0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retweets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7552" y="5513832"/>
            <a:ext cx="9646920" cy="502920"/>
          </a:xfrm>
          <a:prstGeom prst="roundRect">
            <a:avLst/>
          </a:prstGeom>
          <a:solidFill>
            <a:srgbClr val="FAFC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37397" y="5605272"/>
            <a:ext cx="9547230" cy="283154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Cette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définition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permet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de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construire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des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indicateurs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pour le clustering et la classification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supervisée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A20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2">
            <a:extLst>
              <a:ext uri="{FF2B5EF4-FFF2-40B4-BE49-F238E27FC236}">
                <a16:creationId xmlns:a16="http://schemas.microsoft.com/office/drawing/2014/main" id="{B6777BF1-6A88-E04C-473A-1148947BD8B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5">
            <a:extLst>
              <a:ext uri="{FF2B5EF4-FFF2-40B4-BE49-F238E27FC236}">
                <a16:creationId xmlns:a16="http://schemas.microsoft.com/office/drawing/2014/main" id="{34603C6E-3864-0F88-5EF5-8E088AB7FA92}"/>
              </a:ext>
            </a:extLst>
          </p:cNvPr>
          <p:cNvCxnSpPr/>
          <p:nvPr/>
        </p:nvCxnSpPr>
        <p:spPr>
          <a:xfrm>
            <a:off x="1078992" y="896112"/>
            <a:ext cx="9573768" cy="0"/>
          </a:xfrm>
          <a:prstGeom prst="line">
            <a:avLst/>
          </a:prstGeom>
          <a:ln w="1270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6">
            <a:extLst>
              <a:ext uri="{FF2B5EF4-FFF2-40B4-BE49-F238E27FC236}">
                <a16:creationId xmlns:a16="http://schemas.microsoft.com/office/drawing/2014/main" id="{7FBB21B5-63C9-84F1-0DE2-FE1C7D7C6AAD}"/>
              </a:ext>
            </a:extLst>
          </p:cNvPr>
          <p:cNvSpPr txBox="1"/>
          <p:nvPr/>
        </p:nvSpPr>
        <p:spPr>
          <a:xfrm>
            <a:off x="1078992" y="1051560"/>
            <a:ext cx="596939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465470"/>
                </a:solidFill>
                <a:latin typeface="Aptos"/>
              </a:rPr>
              <a:t>Dataset </a:t>
            </a:r>
            <a:r>
              <a:rPr sz="1500" b="1" dirty="0" err="1">
                <a:solidFill>
                  <a:srgbClr val="465470"/>
                </a:solidFill>
                <a:latin typeface="Aptos"/>
              </a:rPr>
              <a:t>Tweet_Worldcup</a:t>
            </a:r>
            <a:r>
              <a:rPr sz="1500" b="1" dirty="0">
                <a:solidFill>
                  <a:srgbClr val="465470"/>
                </a:solidFill>
                <a:latin typeface="Aptos"/>
              </a:rPr>
              <a:t> : données brutes au format JSON / NDJSON</a:t>
            </a: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AE6BCDBF-2105-D589-B10E-1862C2257AA8}"/>
              </a:ext>
            </a:extLst>
          </p:cNvPr>
          <p:cNvSpPr/>
          <p:nvPr/>
        </p:nvSpPr>
        <p:spPr>
          <a:xfrm>
            <a:off x="658368" y="1508760"/>
            <a:ext cx="2487168" cy="93268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2032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152400" rIns="101600" bIns="76200" rtlCol="0" anchor="ctr"/>
          <a:lstStyle/>
          <a:p>
            <a:pPr algn="ctr"/>
            <a:r>
              <a:rPr lang="zh-CN" altLang="zh-CN" sz="2600" b="1" dirty="0">
                <a:solidFill>
                  <a:srgbClr val="2962FF"/>
                </a:solidFill>
                <a:latin typeface="Georgia"/>
              </a:rPr>
              <a:t>4,57 </a:t>
            </a:r>
            <a:r>
              <a:rPr lang="zh-CN" altLang="zh-CN" sz="2500" b="1" dirty="0">
                <a:solidFill>
                  <a:srgbClr val="2962FF"/>
                </a:solidFill>
                <a:latin typeface="Georgia"/>
              </a:rPr>
              <a:t>M</a:t>
            </a:r>
            <a:r>
              <a:rPr sz="2500" b="1" dirty="0">
                <a:solidFill>
                  <a:srgbClr val="2962FF"/>
                </a:solidFill>
                <a:latin typeface="Georgia"/>
              </a:rPr>
              <a:t> </a:t>
            </a: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tweets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bruts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21" name="Rounded Rectangle 8">
            <a:extLst>
              <a:ext uri="{FF2B5EF4-FFF2-40B4-BE49-F238E27FC236}">
                <a16:creationId xmlns:a16="http://schemas.microsoft.com/office/drawing/2014/main" id="{CAE67288-C342-3C41-87CB-DE91B9E9F391}"/>
              </a:ext>
            </a:extLst>
          </p:cNvPr>
          <p:cNvSpPr/>
          <p:nvPr/>
        </p:nvSpPr>
        <p:spPr>
          <a:xfrm>
            <a:off x="3355848" y="1508760"/>
            <a:ext cx="2487168" cy="932688"/>
          </a:xfrm>
          <a:prstGeom prst="roundRect">
            <a:avLst>
              <a:gd name="adj" fmla="val 10000"/>
            </a:avLst>
          </a:prstGeom>
          <a:solidFill>
            <a:srgbClr val="EEF8F4"/>
          </a:solidFill>
          <a:ln w="2032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152400" rIns="101600" bIns="76200" rtlCol="0" anchor="ctr"/>
          <a:lstStyle/>
          <a:p>
            <a:pPr algn="ctr"/>
            <a:r>
              <a:rPr lang="en-US" sz="2500" b="1" dirty="0">
                <a:solidFill>
                  <a:srgbClr val="00B578"/>
                </a:solidFill>
                <a:latin typeface="Georgia"/>
              </a:rPr>
              <a:t>1,84</a:t>
            </a:r>
            <a:r>
              <a:rPr sz="2500" b="1" dirty="0">
                <a:solidFill>
                  <a:srgbClr val="00B578"/>
                </a:solidFill>
                <a:latin typeface="Georgia"/>
              </a:rPr>
              <a:t>M</a:t>
            </a:r>
          </a:p>
          <a:p>
            <a:pPr algn="ctr"/>
            <a:r>
              <a:rPr sz="1200" dirty="0" err="1">
                <a:solidFill>
                  <a:srgbClr val="465470"/>
                </a:solidFill>
                <a:latin typeface="Aptos"/>
              </a:rPr>
              <a:t>utilisateurs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distincts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22" name="Rounded Rectangle 9">
            <a:extLst>
              <a:ext uri="{FF2B5EF4-FFF2-40B4-BE49-F238E27FC236}">
                <a16:creationId xmlns:a16="http://schemas.microsoft.com/office/drawing/2014/main" id="{E5EEBB2B-9C02-28AC-8F99-FE1F7BB427AF}"/>
              </a:ext>
            </a:extLst>
          </p:cNvPr>
          <p:cNvSpPr/>
          <p:nvPr/>
        </p:nvSpPr>
        <p:spPr>
          <a:xfrm>
            <a:off x="6053328" y="1508760"/>
            <a:ext cx="2487168" cy="932688"/>
          </a:xfrm>
          <a:prstGeom prst="roundRect">
            <a:avLst>
              <a:gd name="adj" fmla="val 10000"/>
            </a:avLst>
          </a:prstGeom>
          <a:solidFill>
            <a:srgbClr val="FCF6EE"/>
          </a:solidFill>
          <a:ln w="2032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152400" rIns="101600" bIns="76200" rtlCol="0" anchor="ctr"/>
          <a:lstStyle/>
          <a:p>
            <a:pPr algn="ctr"/>
            <a:r>
              <a:rPr sz="2500" b="1" dirty="0">
                <a:solidFill>
                  <a:srgbClr val="F69500"/>
                </a:solidFill>
                <a:latin typeface="Georgia"/>
              </a:rPr>
              <a:t>40+</a:t>
            </a: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champs par tweet</a:t>
            </a:r>
          </a:p>
        </p:txBody>
      </p:sp>
      <p:sp>
        <p:nvSpPr>
          <p:cNvPr id="23" name="Rounded Rectangle 10">
            <a:extLst>
              <a:ext uri="{FF2B5EF4-FFF2-40B4-BE49-F238E27FC236}">
                <a16:creationId xmlns:a16="http://schemas.microsoft.com/office/drawing/2014/main" id="{7BD90020-B966-8FD6-BAD1-FC5BDF69972E}"/>
              </a:ext>
            </a:extLst>
          </p:cNvPr>
          <p:cNvSpPr/>
          <p:nvPr/>
        </p:nvSpPr>
        <p:spPr>
          <a:xfrm>
            <a:off x="8750808" y="1508760"/>
            <a:ext cx="2487168" cy="932688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2032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152400" rIns="101600" bIns="76200" rtlCol="0" anchor="ctr"/>
          <a:lstStyle/>
          <a:p>
            <a:pPr algn="ctr"/>
            <a:r>
              <a:rPr sz="2500" b="1" dirty="0">
                <a:solidFill>
                  <a:srgbClr val="2962FF"/>
                </a:solidFill>
                <a:latin typeface="Georgia"/>
              </a:rPr>
              <a:t>JSON</a:t>
            </a: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format semi-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structuré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1BF5A873-2E0A-6833-8A13-124651FD81FB}"/>
              </a:ext>
            </a:extLst>
          </p:cNvPr>
          <p:cNvSpPr txBox="1"/>
          <p:nvPr/>
        </p:nvSpPr>
        <p:spPr>
          <a:xfrm>
            <a:off x="713232" y="2788920"/>
            <a:ext cx="438912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A1A37"/>
                </a:solidFill>
                <a:latin typeface="Aptos"/>
              </a:rPr>
              <a:t>Stockage : MongoDB Compass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2721DAE3-05E8-5C44-04EB-F007780861BD}"/>
              </a:ext>
            </a:extLst>
          </p:cNvPr>
          <p:cNvSpPr/>
          <p:nvPr/>
        </p:nvSpPr>
        <p:spPr>
          <a:xfrm>
            <a:off x="658368" y="3182112"/>
            <a:ext cx="10561320" cy="1417320"/>
          </a:xfrm>
          <a:prstGeom prst="roundRect">
            <a:avLst>
              <a:gd name="adj" fmla="val 8000"/>
            </a:avLst>
          </a:prstGeom>
          <a:solidFill>
            <a:srgbClr val="F8FAFD"/>
          </a:solidFill>
          <a:ln w="1270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52400" rIns="177800" bIns="127000" rtlCol="0" anchor="ctr"/>
          <a:lstStyle/>
          <a:p>
            <a:pPr>
              <a:spcAft>
                <a:spcPts val="500"/>
              </a:spcAft>
              <a:defRPr sz="1120">
                <a:solidFill>
                  <a:srgbClr val="465470"/>
                </a:solidFill>
              </a:defRPr>
            </a:pPr>
            <a:r>
              <a:rPr sz="1300" dirty="0"/>
              <a:t>•  Nature semi-</a:t>
            </a:r>
            <a:r>
              <a:rPr sz="1300" dirty="0" err="1"/>
              <a:t>structurée</a:t>
            </a:r>
            <a:r>
              <a:rPr sz="1300" dirty="0"/>
              <a:t> du dataset : </a:t>
            </a:r>
            <a:r>
              <a:rPr sz="1300" dirty="0" err="1"/>
              <a:t>chaque</a:t>
            </a:r>
            <a:r>
              <a:rPr sz="1300" dirty="0"/>
              <a:t> tweet est un document JSON.</a:t>
            </a:r>
          </a:p>
          <a:p>
            <a:pPr>
              <a:spcAft>
                <a:spcPts val="500"/>
              </a:spcAft>
              <a:defRPr sz="1120">
                <a:solidFill>
                  <a:srgbClr val="465470"/>
                </a:solidFill>
              </a:defRPr>
            </a:pPr>
            <a:r>
              <a:rPr sz="1300" dirty="0"/>
              <a:t>•  MongoDB </a:t>
            </a:r>
            <a:r>
              <a:rPr sz="1300" dirty="0" err="1"/>
              <a:t>accepte</a:t>
            </a:r>
            <a:r>
              <a:rPr sz="1300" dirty="0"/>
              <a:t> </a:t>
            </a:r>
            <a:r>
              <a:rPr sz="1300" dirty="0" err="1"/>
              <a:t>directement</a:t>
            </a:r>
            <a:r>
              <a:rPr sz="1300" dirty="0"/>
              <a:t> les documents </a:t>
            </a:r>
            <a:r>
              <a:rPr sz="1300" dirty="0" err="1"/>
              <a:t>bruts</a:t>
            </a:r>
            <a:r>
              <a:rPr sz="1300" dirty="0"/>
              <a:t>, sans </a:t>
            </a:r>
            <a:r>
              <a:rPr sz="1300" dirty="0" err="1"/>
              <a:t>schéma</a:t>
            </a:r>
            <a:r>
              <a:rPr sz="1300" dirty="0"/>
              <a:t> </a:t>
            </a:r>
            <a:r>
              <a:rPr sz="1300" dirty="0" err="1"/>
              <a:t>rigide</a:t>
            </a:r>
            <a:r>
              <a:rPr sz="1300" dirty="0"/>
              <a:t> </a:t>
            </a:r>
            <a:r>
              <a:rPr sz="1300" dirty="0" err="1"/>
              <a:t>défini</a:t>
            </a:r>
            <a:r>
              <a:rPr sz="1300" dirty="0"/>
              <a:t> à </a:t>
            </a:r>
            <a:r>
              <a:rPr sz="1300" dirty="0" err="1"/>
              <a:t>l’avance</a:t>
            </a:r>
            <a:r>
              <a:rPr sz="1300" dirty="0"/>
              <a:t>.</a:t>
            </a:r>
          </a:p>
          <a:p>
            <a:pPr>
              <a:spcAft>
                <a:spcPts val="500"/>
              </a:spcAft>
              <a:defRPr sz="1120">
                <a:solidFill>
                  <a:srgbClr val="465470"/>
                </a:solidFill>
              </a:defRPr>
            </a:pPr>
            <a:r>
              <a:rPr sz="1300" dirty="0"/>
              <a:t>•  Ingestion par lots via </a:t>
            </a:r>
            <a:r>
              <a:rPr sz="1300" dirty="0" err="1"/>
              <a:t>pymongo</a:t>
            </a:r>
            <a:r>
              <a:rPr sz="1300" dirty="0"/>
              <a:t> dans la collection </a:t>
            </a:r>
            <a:r>
              <a:rPr sz="1300" dirty="0" err="1"/>
              <a:t>tweets_raw</a:t>
            </a:r>
            <a:r>
              <a:rPr sz="1300" dirty="0"/>
              <a:t>.</a:t>
            </a:r>
          </a:p>
          <a:p>
            <a:pPr>
              <a:spcAft>
                <a:spcPts val="500"/>
              </a:spcAft>
              <a:defRPr sz="1120">
                <a:solidFill>
                  <a:srgbClr val="465470"/>
                </a:solidFill>
              </a:defRPr>
            </a:pPr>
            <a:r>
              <a:rPr sz="1300" dirty="0"/>
              <a:t>•  </a:t>
            </a:r>
            <a:r>
              <a:rPr sz="1300" dirty="0" err="1"/>
              <a:t>Requêtes</a:t>
            </a:r>
            <a:r>
              <a:rPr sz="1300" dirty="0"/>
              <a:t> </a:t>
            </a:r>
            <a:r>
              <a:rPr sz="1300" dirty="0" err="1"/>
              <a:t>d’agrégation</a:t>
            </a:r>
            <a:r>
              <a:rPr sz="1300" dirty="0"/>
              <a:t> pour passer du </a:t>
            </a:r>
            <a:r>
              <a:rPr sz="1300" dirty="0" err="1"/>
              <a:t>niveau</a:t>
            </a:r>
            <a:r>
              <a:rPr sz="1300" dirty="0"/>
              <a:t> tweet au </a:t>
            </a:r>
            <a:r>
              <a:rPr sz="1300" dirty="0" err="1"/>
              <a:t>niveau</a:t>
            </a:r>
            <a:r>
              <a:rPr sz="1300" dirty="0"/>
              <a:t> </a:t>
            </a:r>
            <a:r>
              <a:rPr sz="1300" dirty="0" err="1"/>
              <a:t>utilisateur</a:t>
            </a:r>
            <a:r>
              <a:rPr sz="1300" dirty="0"/>
              <a:t>.</a:t>
            </a:r>
          </a:p>
        </p:txBody>
      </p:sp>
      <p:sp>
        <p:nvSpPr>
          <p:cNvPr id="27" name="Rounded Rectangle 13">
            <a:extLst>
              <a:ext uri="{FF2B5EF4-FFF2-40B4-BE49-F238E27FC236}">
                <a16:creationId xmlns:a16="http://schemas.microsoft.com/office/drawing/2014/main" id="{9F223319-9C7C-5333-F81E-AA85E6F07D0C}"/>
              </a:ext>
            </a:extLst>
          </p:cNvPr>
          <p:cNvSpPr/>
          <p:nvPr/>
        </p:nvSpPr>
        <p:spPr>
          <a:xfrm>
            <a:off x="914400" y="5152644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2962FF"/>
                </a:solidFill>
              </a:rPr>
              <a:t>Python</a:t>
            </a:r>
          </a:p>
        </p:txBody>
      </p:sp>
      <p:sp>
        <p:nvSpPr>
          <p:cNvPr id="28" name="Rounded Rectangle 14">
            <a:extLst>
              <a:ext uri="{FF2B5EF4-FFF2-40B4-BE49-F238E27FC236}">
                <a16:creationId xmlns:a16="http://schemas.microsoft.com/office/drawing/2014/main" id="{260225AA-9C6B-A3C9-87CA-773B2122F16D}"/>
              </a:ext>
            </a:extLst>
          </p:cNvPr>
          <p:cNvSpPr/>
          <p:nvPr/>
        </p:nvSpPr>
        <p:spPr>
          <a:xfrm>
            <a:off x="2560320" y="5138928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2962FF"/>
                </a:solidFill>
              </a:rPr>
              <a:t>Pandas</a:t>
            </a:r>
          </a:p>
        </p:txBody>
      </p:sp>
      <p:sp>
        <p:nvSpPr>
          <p:cNvPr id="29" name="Rounded Rectangle 15">
            <a:extLst>
              <a:ext uri="{FF2B5EF4-FFF2-40B4-BE49-F238E27FC236}">
                <a16:creationId xmlns:a16="http://schemas.microsoft.com/office/drawing/2014/main" id="{0074E2F1-C173-7144-1307-D9F9B5D620F8}"/>
              </a:ext>
            </a:extLst>
          </p:cNvPr>
          <p:cNvSpPr/>
          <p:nvPr/>
        </p:nvSpPr>
        <p:spPr>
          <a:xfrm>
            <a:off x="4206240" y="5138928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2962FF"/>
                </a:solidFill>
              </a:rPr>
              <a:t>NumPy</a:t>
            </a:r>
          </a:p>
        </p:txBody>
      </p:sp>
      <p:sp>
        <p:nvSpPr>
          <p:cNvPr id="30" name="Rounded Rectangle 16">
            <a:extLst>
              <a:ext uri="{FF2B5EF4-FFF2-40B4-BE49-F238E27FC236}">
                <a16:creationId xmlns:a16="http://schemas.microsoft.com/office/drawing/2014/main" id="{976022B4-157C-FA1C-48DA-6380E570FF43}"/>
              </a:ext>
            </a:extLst>
          </p:cNvPr>
          <p:cNvSpPr/>
          <p:nvPr/>
        </p:nvSpPr>
        <p:spPr>
          <a:xfrm>
            <a:off x="5852160" y="5138928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00B578"/>
                </a:solidFill>
              </a:rPr>
              <a:t>Scikit-learn</a:t>
            </a:r>
          </a:p>
        </p:txBody>
      </p:sp>
      <p:sp>
        <p:nvSpPr>
          <p:cNvPr id="31" name="Rounded Rectangle 17">
            <a:extLst>
              <a:ext uri="{FF2B5EF4-FFF2-40B4-BE49-F238E27FC236}">
                <a16:creationId xmlns:a16="http://schemas.microsoft.com/office/drawing/2014/main" id="{738BB3EE-AA5C-5AAB-83A9-35E4C548C496}"/>
              </a:ext>
            </a:extLst>
          </p:cNvPr>
          <p:cNvSpPr/>
          <p:nvPr/>
        </p:nvSpPr>
        <p:spPr>
          <a:xfrm>
            <a:off x="7498079" y="5138928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F69500"/>
                </a:solidFill>
              </a:rPr>
              <a:t>Matplotlib</a:t>
            </a:r>
          </a:p>
        </p:txBody>
      </p:sp>
      <p:sp>
        <p:nvSpPr>
          <p:cNvPr id="32" name="Rounded Rectangle 18">
            <a:extLst>
              <a:ext uri="{FF2B5EF4-FFF2-40B4-BE49-F238E27FC236}">
                <a16:creationId xmlns:a16="http://schemas.microsoft.com/office/drawing/2014/main" id="{0DA1E6D7-5C36-6E81-1ED8-C9157C09FA32}"/>
              </a:ext>
            </a:extLst>
          </p:cNvPr>
          <p:cNvSpPr/>
          <p:nvPr/>
        </p:nvSpPr>
        <p:spPr>
          <a:xfrm>
            <a:off x="9144000" y="5138928"/>
            <a:ext cx="1481328" cy="393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25400" rtlCol="0" anchor="ctr"/>
          <a:lstStyle/>
          <a:p>
            <a:pPr algn="ctr"/>
            <a:r>
              <a:rPr sz="1400" b="1">
                <a:solidFill>
                  <a:srgbClr val="00B578"/>
                </a:solidFill>
              </a:rPr>
              <a:t>MongoDB</a:t>
            </a:r>
          </a:p>
        </p:txBody>
      </p:sp>
      <p:sp>
        <p:nvSpPr>
          <p:cNvPr id="33" name="Rounded Rectangle 19">
            <a:extLst>
              <a:ext uri="{FF2B5EF4-FFF2-40B4-BE49-F238E27FC236}">
                <a16:creationId xmlns:a16="http://schemas.microsoft.com/office/drawing/2014/main" id="{8C32FC01-A2FC-E4DB-4209-667A9F3C4962}"/>
              </a:ext>
            </a:extLst>
          </p:cNvPr>
          <p:cNvSpPr/>
          <p:nvPr/>
        </p:nvSpPr>
        <p:spPr>
          <a:xfrm>
            <a:off x="914400" y="5833872"/>
            <a:ext cx="9738360" cy="530352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27000" rtlCol="0" anchor="ctr"/>
          <a:lstStyle/>
          <a:p>
            <a:pPr algn="ctr"/>
            <a:r>
              <a:rPr sz="1550" b="1">
                <a:solidFill>
                  <a:srgbClr val="0A1A37"/>
                </a:solidFill>
              </a:rPr>
              <a:t>Idée clé : transformer les tweets bruts en profils utilisateurs exploitables.</a:t>
            </a:r>
          </a:p>
        </p:txBody>
      </p:sp>
      <p:sp>
        <p:nvSpPr>
          <p:cNvPr id="36" name="Shape 2">
            <a:extLst>
              <a:ext uri="{FF2B5EF4-FFF2-40B4-BE49-F238E27FC236}">
                <a16:creationId xmlns:a16="http://schemas.microsoft.com/office/drawing/2014/main" id="{65E86B01-A876-DF18-B397-BF33FD645A00}"/>
              </a:ext>
            </a:extLst>
          </p:cNvPr>
          <p:cNvSpPr/>
          <p:nvPr/>
        </p:nvSpPr>
        <p:spPr>
          <a:xfrm>
            <a:off x="9525000" y="-45720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42648CC1-EC49-EDA5-5B00-7AA65347CC43}"/>
              </a:ext>
            </a:extLst>
          </p:cNvPr>
          <p:cNvSpPr/>
          <p:nvPr/>
        </p:nvSpPr>
        <p:spPr>
          <a:xfrm>
            <a:off x="9890760" y="-155448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40" name="Text 4">
            <a:extLst>
              <a:ext uri="{FF2B5EF4-FFF2-40B4-BE49-F238E27FC236}">
                <a16:creationId xmlns:a16="http://schemas.microsoft.com/office/drawing/2014/main" id="{DB83223E-2E9C-8E52-9859-859A2559D74F}"/>
              </a:ext>
            </a:extLst>
          </p:cNvPr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9A35EABE-25B8-5963-BF6B-F6DAD34FF6D8}"/>
              </a:ext>
            </a:extLst>
          </p:cNvPr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altLang="zh-CN" sz="2800" b="1" dirty="0">
                <a:solidFill>
                  <a:srgbClr val="0A1A37"/>
                </a:solidFill>
              </a:rPr>
              <a:t>Dataset et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du projet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25880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6C72FFEB-8893-8E6D-BA24-0E7CAB064E10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D6618D18-294F-F48E-39AA-012FB75AB750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55" name="Rectangle 2">
            <a:extLst>
              <a:ext uri="{FF2B5EF4-FFF2-40B4-BE49-F238E27FC236}">
                <a16:creationId xmlns:a16="http://schemas.microsoft.com/office/drawing/2014/main" id="{673DCEA0-312E-4191-01C4-51336761AC0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6">
            <a:extLst>
              <a:ext uri="{FF2B5EF4-FFF2-40B4-BE49-F238E27FC236}">
                <a16:creationId xmlns:a16="http://schemas.microsoft.com/office/drawing/2014/main" id="{A5915D7E-1674-2B8C-3639-3FC865A7DB9A}"/>
              </a:ext>
            </a:extLst>
          </p:cNvPr>
          <p:cNvSpPr txBox="1"/>
          <p:nvPr/>
        </p:nvSpPr>
        <p:spPr>
          <a:xfrm>
            <a:off x="1078992" y="1024128"/>
            <a:ext cx="602382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fr-FR" sz="1500" b="1" dirty="0">
                <a:solidFill>
                  <a:srgbClr val="465470"/>
                </a:solidFill>
              </a:rPr>
              <a:t>Le projet est organisé en trois parties : données, modèles et livrables.</a:t>
            </a:r>
            <a:endParaRPr sz="1500" b="1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A543E92A-75DB-8ED6-8507-ACC52D9F2068}"/>
              </a:ext>
            </a:extLst>
          </p:cNvPr>
          <p:cNvSpPr/>
          <p:nvPr/>
        </p:nvSpPr>
        <p:spPr>
          <a:xfrm>
            <a:off x="4215383" y="1572768"/>
            <a:ext cx="3886200" cy="868680"/>
          </a:xfrm>
          <a:prstGeom prst="roundRect">
            <a:avLst>
              <a:gd name="adj" fmla="val 6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8">
            <a:extLst>
              <a:ext uri="{FF2B5EF4-FFF2-40B4-BE49-F238E27FC236}">
                <a16:creationId xmlns:a16="http://schemas.microsoft.com/office/drawing/2014/main" id="{14E3A68B-93F8-F08F-87DE-1FAC2429BC2D}"/>
              </a:ext>
            </a:extLst>
          </p:cNvPr>
          <p:cNvSpPr/>
          <p:nvPr/>
        </p:nvSpPr>
        <p:spPr>
          <a:xfrm>
            <a:off x="4160520" y="1508760"/>
            <a:ext cx="3886200" cy="86868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778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ctr"/>
            <a:r>
              <a:rPr sz="2000" b="1" dirty="0">
                <a:solidFill>
                  <a:srgbClr val="0A1A37"/>
                </a:solidFill>
                <a:latin typeface="Aptos"/>
              </a:rPr>
              <a:t>Projet_IF29</a:t>
            </a:r>
          </a:p>
        </p:txBody>
      </p:sp>
      <p:sp>
        <p:nvSpPr>
          <p:cNvPr id="62" name="Rounded Rectangle 9">
            <a:extLst>
              <a:ext uri="{FF2B5EF4-FFF2-40B4-BE49-F238E27FC236}">
                <a16:creationId xmlns:a16="http://schemas.microsoft.com/office/drawing/2014/main" id="{EB2F1060-F9A9-24B2-1345-D94A0BF9F13E}"/>
              </a:ext>
            </a:extLst>
          </p:cNvPr>
          <p:cNvSpPr/>
          <p:nvPr/>
        </p:nvSpPr>
        <p:spPr>
          <a:xfrm>
            <a:off x="1014984" y="2761488"/>
            <a:ext cx="3931920" cy="621792"/>
          </a:xfrm>
          <a:prstGeom prst="roundRect">
            <a:avLst>
              <a:gd name="adj" fmla="val 6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10">
            <a:extLst>
              <a:ext uri="{FF2B5EF4-FFF2-40B4-BE49-F238E27FC236}">
                <a16:creationId xmlns:a16="http://schemas.microsoft.com/office/drawing/2014/main" id="{AD9568B1-78E0-4E43-8BA3-188183187388}"/>
              </a:ext>
            </a:extLst>
          </p:cNvPr>
          <p:cNvSpPr/>
          <p:nvPr/>
        </p:nvSpPr>
        <p:spPr>
          <a:xfrm>
            <a:off x="960120" y="2697480"/>
            <a:ext cx="3931920" cy="621792"/>
          </a:xfrm>
          <a:prstGeom prst="roundRect">
            <a:avLst>
              <a:gd name="adj" fmla="val 6000"/>
            </a:avLst>
          </a:prstGeom>
          <a:solidFill>
            <a:srgbClr val="EEF8F4"/>
          </a:solidFill>
          <a:ln w="1778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ctr"/>
            <a:r>
              <a:rPr sz="1700" b="1" dirty="0">
                <a:solidFill>
                  <a:srgbClr val="00B578"/>
                </a:solidFill>
                <a:latin typeface="Aptos"/>
              </a:rPr>
              <a:t>Données &amp; </a:t>
            </a:r>
            <a:r>
              <a:rPr sz="1700" b="1" dirty="0" err="1">
                <a:solidFill>
                  <a:srgbClr val="00B578"/>
                </a:solidFill>
                <a:latin typeface="Aptos"/>
              </a:rPr>
              <a:t>préparation</a:t>
            </a:r>
            <a:endParaRPr sz="1700" b="1" dirty="0">
              <a:solidFill>
                <a:srgbClr val="00B578"/>
              </a:solidFill>
              <a:latin typeface="Aptos"/>
            </a:endParaRPr>
          </a:p>
          <a:p>
            <a:pPr algn="ctr"/>
            <a:r>
              <a:rPr sz="1400" dirty="0">
                <a:solidFill>
                  <a:srgbClr val="465470"/>
                </a:solidFill>
                <a:latin typeface="Aptos"/>
              </a:rPr>
              <a:t>ingestion, structuration et </a:t>
            </a:r>
            <a:r>
              <a:rPr sz="1400" dirty="0" err="1">
                <a:solidFill>
                  <a:srgbClr val="465470"/>
                </a:solidFill>
                <a:latin typeface="Aptos"/>
              </a:rPr>
              <a:t>ressources</a:t>
            </a:r>
            <a:endParaRPr sz="14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64" name="Rounded Rectangle 11">
            <a:extLst>
              <a:ext uri="{FF2B5EF4-FFF2-40B4-BE49-F238E27FC236}">
                <a16:creationId xmlns:a16="http://schemas.microsoft.com/office/drawing/2014/main" id="{7132A113-80D4-3FE3-2121-315B49C488FF}"/>
              </a:ext>
            </a:extLst>
          </p:cNvPr>
          <p:cNvSpPr/>
          <p:nvPr/>
        </p:nvSpPr>
        <p:spPr>
          <a:xfrm>
            <a:off x="7370064" y="2761488"/>
            <a:ext cx="3931920" cy="621792"/>
          </a:xfrm>
          <a:prstGeom prst="roundRect">
            <a:avLst>
              <a:gd name="adj" fmla="val 6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12">
            <a:extLst>
              <a:ext uri="{FF2B5EF4-FFF2-40B4-BE49-F238E27FC236}">
                <a16:creationId xmlns:a16="http://schemas.microsoft.com/office/drawing/2014/main" id="{464081CF-FBD3-731C-9FBF-972B1846B1E2}"/>
              </a:ext>
            </a:extLst>
          </p:cNvPr>
          <p:cNvSpPr/>
          <p:nvPr/>
        </p:nvSpPr>
        <p:spPr>
          <a:xfrm>
            <a:off x="7315200" y="2697480"/>
            <a:ext cx="3931920" cy="621792"/>
          </a:xfrm>
          <a:prstGeom prst="roundRect">
            <a:avLst>
              <a:gd name="adj" fmla="val 6000"/>
            </a:avLst>
          </a:prstGeom>
          <a:solidFill>
            <a:srgbClr val="FCF6EE"/>
          </a:solidFill>
          <a:ln w="1778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ctr"/>
            <a:r>
              <a:rPr sz="1700" b="1" dirty="0" err="1">
                <a:solidFill>
                  <a:srgbClr val="F69500"/>
                </a:solidFill>
                <a:latin typeface="Aptos"/>
              </a:rPr>
              <a:t>Modélisation</a:t>
            </a:r>
            <a:r>
              <a:rPr sz="1700" b="1" dirty="0">
                <a:solidFill>
                  <a:srgbClr val="F69500"/>
                </a:solidFill>
                <a:latin typeface="Aptos"/>
              </a:rPr>
              <a:t> &amp; </a:t>
            </a:r>
            <a:r>
              <a:rPr sz="1700" b="1" dirty="0" err="1">
                <a:solidFill>
                  <a:srgbClr val="F69500"/>
                </a:solidFill>
                <a:latin typeface="Aptos"/>
              </a:rPr>
              <a:t>analyse</a:t>
            </a:r>
            <a:endParaRPr sz="1700" b="1" dirty="0">
              <a:solidFill>
                <a:srgbClr val="F69500"/>
              </a:solidFill>
              <a:latin typeface="Aptos"/>
            </a:endParaRPr>
          </a:p>
          <a:p>
            <a:pPr algn="ctr"/>
            <a:r>
              <a:rPr sz="1400" dirty="0">
                <a:solidFill>
                  <a:srgbClr val="465470"/>
                </a:solidFill>
                <a:latin typeface="Aptos"/>
              </a:rPr>
              <a:t>clustering, classification et </a:t>
            </a:r>
            <a:r>
              <a:rPr sz="1400" dirty="0" err="1">
                <a:solidFill>
                  <a:srgbClr val="465470"/>
                </a:solidFill>
                <a:latin typeface="Aptos"/>
              </a:rPr>
              <a:t>comparaison</a:t>
            </a:r>
            <a:endParaRPr sz="1400" dirty="0">
              <a:solidFill>
                <a:srgbClr val="465470"/>
              </a:solidFill>
              <a:latin typeface="Aptos"/>
            </a:endParaRPr>
          </a:p>
        </p:txBody>
      </p:sp>
      <p:cxnSp>
        <p:nvCxnSpPr>
          <p:cNvPr id="66" name="Connector 13">
            <a:extLst>
              <a:ext uri="{FF2B5EF4-FFF2-40B4-BE49-F238E27FC236}">
                <a16:creationId xmlns:a16="http://schemas.microsoft.com/office/drawing/2014/main" id="{3C1BCE44-6DB1-EE68-0611-8340AB52884E}"/>
              </a:ext>
            </a:extLst>
          </p:cNvPr>
          <p:cNvCxnSpPr/>
          <p:nvPr/>
        </p:nvCxnSpPr>
        <p:spPr>
          <a:xfrm>
            <a:off x="6103620" y="2377439"/>
            <a:ext cx="0" cy="155449"/>
          </a:xfrm>
          <a:prstGeom prst="line">
            <a:avLst/>
          </a:prstGeom>
          <a:ln w="1524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14">
            <a:extLst>
              <a:ext uri="{FF2B5EF4-FFF2-40B4-BE49-F238E27FC236}">
                <a16:creationId xmlns:a16="http://schemas.microsoft.com/office/drawing/2014/main" id="{295928EF-2302-5D3B-C6B7-34055E7C2B57}"/>
              </a:ext>
            </a:extLst>
          </p:cNvPr>
          <p:cNvCxnSpPr>
            <a:cxnSpLocks/>
          </p:cNvCxnSpPr>
          <p:nvPr/>
        </p:nvCxnSpPr>
        <p:spPr>
          <a:xfrm>
            <a:off x="2926080" y="2532888"/>
            <a:ext cx="6355080" cy="0"/>
          </a:xfrm>
          <a:prstGeom prst="line">
            <a:avLst/>
          </a:prstGeom>
          <a:ln w="1524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15">
            <a:extLst>
              <a:ext uri="{FF2B5EF4-FFF2-40B4-BE49-F238E27FC236}">
                <a16:creationId xmlns:a16="http://schemas.microsoft.com/office/drawing/2014/main" id="{DC364BCB-DA3D-064C-6B33-CD687B225E70}"/>
              </a:ext>
            </a:extLst>
          </p:cNvPr>
          <p:cNvCxnSpPr/>
          <p:nvPr/>
        </p:nvCxnSpPr>
        <p:spPr>
          <a:xfrm>
            <a:off x="2926080" y="2532888"/>
            <a:ext cx="0" cy="164592"/>
          </a:xfrm>
          <a:prstGeom prst="line">
            <a:avLst/>
          </a:prstGeom>
          <a:ln w="1524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16">
            <a:extLst>
              <a:ext uri="{FF2B5EF4-FFF2-40B4-BE49-F238E27FC236}">
                <a16:creationId xmlns:a16="http://schemas.microsoft.com/office/drawing/2014/main" id="{AD894DED-6C11-6FCE-2C0B-58699C0D64C7}"/>
              </a:ext>
            </a:extLst>
          </p:cNvPr>
          <p:cNvCxnSpPr/>
          <p:nvPr/>
        </p:nvCxnSpPr>
        <p:spPr>
          <a:xfrm>
            <a:off x="9281160" y="2532888"/>
            <a:ext cx="0" cy="164592"/>
          </a:xfrm>
          <a:prstGeom prst="line">
            <a:avLst/>
          </a:prstGeom>
          <a:ln w="1524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17">
            <a:extLst>
              <a:ext uri="{FF2B5EF4-FFF2-40B4-BE49-F238E27FC236}">
                <a16:creationId xmlns:a16="http://schemas.microsoft.com/office/drawing/2014/main" id="{48218981-3111-28DD-2203-981D6836858D}"/>
              </a:ext>
            </a:extLst>
          </p:cNvPr>
          <p:cNvSpPr/>
          <p:nvPr/>
        </p:nvSpPr>
        <p:spPr>
          <a:xfrm>
            <a:off x="1097280" y="384048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18">
            <a:extLst>
              <a:ext uri="{FF2B5EF4-FFF2-40B4-BE49-F238E27FC236}">
                <a16:creationId xmlns:a16="http://schemas.microsoft.com/office/drawing/2014/main" id="{2660A10D-3530-F94B-45B0-71FCC7026775}"/>
              </a:ext>
            </a:extLst>
          </p:cNvPr>
          <p:cNvSpPr/>
          <p:nvPr/>
        </p:nvSpPr>
        <p:spPr>
          <a:xfrm>
            <a:off x="1051560" y="379476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>
                <a:solidFill>
                  <a:srgbClr val="0A1A37"/>
                </a:solidFill>
                <a:latin typeface="Aptos"/>
              </a:rPr>
              <a:t>dataset</a:t>
            </a:r>
          </a:p>
          <a:p>
            <a:pPr algn="l"/>
            <a:r>
              <a:rPr sz="1300" dirty="0">
                <a:solidFill>
                  <a:srgbClr val="465470"/>
                </a:solidFill>
                <a:latin typeface="Aptos"/>
              </a:rPr>
              <a:t>données brutes</a:t>
            </a:r>
            <a:r>
              <a:rPr lang="en-US" sz="1300" dirty="0">
                <a:solidFill>
                  <a:srgbClr val="465470"/>
                </a:solidFill>
                <a:latin typeface="Aptos"/>
              </a:rPr>
              <a:t> </a:t>
            </a:r>
            <a:r>
              <a:rPr sz="1300" dirty="0">
                <a:solidFill>
                  <a:srgbClr val="465470"/>
                </a:solidFill>
                <a:latin typeface="Aptos"/>
              </a:rPr>
              <a:t>et </a:t>
            </a:r>
            <a:r>
              <a:rPr sz="1300" dirty="0" err="1">
                <a:solidFill>
                  <a:srgbClr val="465470"/>
                </a:solidFill>
                <a:latin typeface="Aptos"/>
              </a:rPr>
              <a:t>fichiers</a:t>
            </a:r>
            <a:r>
              <a:rPr sz="1300" dirty="0">
                <a:solidFill>
                  <a:srgbClr val="465470"/>
                </a:solidFill>
                <a:latin typeface="Aptos"/>
              </a:rPr>
              <a:t> CSV</a:t>
            </a:r>
          </a:p>
        </p:txBody>
      </p:sp>
      <p:sp>
        <p:nvSpPr>
          <p:cNvPr id="72" name="Rounded Rectangle 19">
            <a:extLst>
              <a:ext uri="{FF2B5EF4-FFF2-40B4-BE49-F238E27FC236}">
                <a16:creationId xmlns:a16="http://schemas.microsoft.com/office/drawing/2014/main" id="{0A89A852-C1C4-39E9-B7A7-54448E9DC71E}"/>
              </a:ext>
            </a:extLst>
          </p:cNvPr>
          <p:cNvSpPr/>
          <p:nvPr/>
        </p:nvSpPr>
        <p:spPr>
          <a:xfrm>
            <a:off x="1097280" y="466344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20">
            <a:extLst>
              <a:ext uri="{FF2B5EF4-FFF2-40B4-BE49-F238E27FC236}">
                <a16:creationId xmlns:a16="http://schemas.microsoft.com/office/drawing/2014/main" id="{0CB94539-4004-2353-8A61-3D07DCB83D69}"/>
              </a:ext>
            </a:extLst>
          </p:cNvPr>
          <p:cNvSpPr/>
          <p:nvPr/>
        </p:nvSpPr>
        <p:spPr>
          <a:xfrm>
            <a:off x="1051560" y="461772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 err="1">
                <a:solidFill>
                  <a:srgbClr val="0A1A37"/>
                </a:solidFill>
                <a:latin typeface="Aptos"/>
              </a:rPr>
              <a:t>Traitement_des_donnees</a:t>
            </a:r>
            <a:endParaRPr sz="1500" b="1" dirty="0">
              <a:solidFill>
                <a:srgbClr val="0A1A37"/>
              </a:solidFill>
              <a:latin typeface="Aptos"/>
            </a:endParaRPr>
          </a:p>
          <a:p>
            <a:pPr algn="l"/>
            <a:r>
              <a:rPr sz="1200" dirty="0">
                <a:solidFill>
                  <a:srgbClr val="465470"/>
                </a:solidFill>
                <a:latin typeface="Aptos"/>
              </a:rPr>
              <a:t>MongoDB, extraction</a:t>
            </a:r>
            <a:r>
              <a:rPr lang="en-US"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>
                <a:solidFill>
                  <a:srgbClr val="465470"/>
                </a:solidFill>
                <a:latin typeface="Aptos"/>
              </a:rPr>
              <a:t>et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préparation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74" name="Rounded Rectangle 21">
            <a:extLst>
              <a:ext uri="{FF2B5EF4-FFF2-40B4-BE49-F238E27FC236}">
                <a16:creationId xmlns:a16="http://schemas.microsoft.com/office/drawing/2014/main" id="{6A34ECBC-9D04-DE88-BC75-5CBDEC328CFA}"/>
              </a:ext>
            </a:extLst>
          </p:cNvPr>
          <p:cNvSpPr/>
          <p:nvPr/>
        </p:nvSpPr>
        <p:spPr>
          <a:xfrm>
            <a:off x="1097280" y="548640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22">
            <a:extLst>
              <a:ext uri="{FF2B5EF4-FFF2-40B4-BE49-F238E27FC236}">
                <a16:creationId xmlns:a16="http://schemas.microsoft.com/office/drawing/2014/main" id="{DC2901C3-3F21-CB9F-B66B-5DAD61904245}"/>
              </a:ext>
            </a:extLst>
          </p:cNvPr>
          <p:cNvSpPr/>
          <p:nvPr/>
        </p:nvSpPr>
        <p:spPr>
          <a:xfrm>
            <a:off x="1051560" y="5440680"/>
            <a:ext cx="342900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>
                <a:solidFill>
                  <a:srgbClr val="0A1A37"/>
                </a:solidFill>
                <a:latin typeface="Aptos"/>
              </a:rPr>
              <a:t>images / reports</a:t>
            </a:r>
          </a:p>
          <a:p>
            <a:pPr algn="l"/>
            <a:r>
              <a:rPr sz="1200" dirty="0" err="1">
                <a:solidFill>
                  <a:srgbClr val="465470"/>
                </a:solidFill>
                <a:latin typeface="Aptos"/>
              </a:rPr>
              <a:t>graphiques</a:t>
            </a:r>
            <a:r>
              <a:rPr sz="1200" dirty="0">
                <a:solidFill>
                  <a:srgbClr val="465470"/>
                </a:solidFill>
                <a:latin typeface="Aptos"/>
              </a:rPr>
              <a:t>, rapport</a:t>
            </a:r>
            <a:r>
              <a:rPr lang="en-US"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>
                <a:solidFill>
                  <a:srgbClr val="465470"/>
                </a:solidFill>
                <a:latin typeface="Aptos"/>
              </a:rPr>
              <a:t>et support de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présentation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76" name="Rounded Rectangle 23">
            <a:extLst>
              <a:ext uri="{FF2B5EF4-FFF2-40B4-BE49-F238E27FC236}">
                <a16:creationId xmlns:a16="http://schemas.microsoft.com/office/drawing/2014/main" id="{66F90E69-8686-49ED-4CF3-E864CF8E1D3D}"/>
              </a:ext>
            </a:extLst>
          </p:cNvPr>
          <p:cNvSpPr/>
          <p:nvPr/>
        </p:nvSpPr>
        <p:spPr>
          <a:xfrm>
            <a:off x="7452360" y="3840480"/>
            <a:ext cx="361188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24">
            <a:extLst>
              <a:ext uri="{FF2B5EF4-FFF2-40B4-BE49-F238E27FC236}">
                <a16:creationId xmlns:a16="http://schemas.microsoft.com/office/drawing/2014/main" id="{5D9FCB98-75FD-6250-1A4B-4BBEEBDE8750}"/>
              </a:ext>
            </a:extLst>
          </p:cNvPr>
          <p:cNvSpPr/>
          <p:nvPr/>
        </p:nvSpPr>
        <p:spPr>
          <a:xfrm>
            <a:off x="7406639" y="3794760"/>
            <a:ext cx="3840479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>
                <a:solidFill>
                  <a:srgbClr val="0A1A37"/>
                </a:solidFill>
                <a:latin typeface="Aptos"/>
              </a:rPr>
              <a:t>K-Means</a:t>
            </a:r>
          </a:p>
          <a:p>
            <a:pPr algn="l"/>
            <a:r>
              <a:rPr sz="1200" dirty="0" err="1">
                <a:solidFill>
                  <a:srgbClr val="465470"/>
                </a:solidFill>
                <a:latin typeface="Aptos"/>
              </a:rPr>
              <a:t>approche</a:t>
            </a:r>
            <a:r>
              <a:rPr sz="1200" dirty="0">
                <a:solidFill>
                  <a:srgbClr val="465470"/>
                </a:solidFill>
                <a:latin typeface="Aptos"/>
              </a:rPr>
              <a:t> non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supervisée</a:t>
            </a:r>
            <a:r>
              <a:rPr lang="en-US"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>
                <a:solidFill>
                  <a:srgbClr val="465470"/>
                </a:solidFill>
                <a:latin typeface="Aptos"/>
              </a:rPr>
              <a:t>et clustering des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profils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191704C9-74D3-691F-5F36-CC7EA67B27AA}"/>
              </a:ext>
            </a:extLst>
          </p:cNvPr>
          <p:cNvSpPr/>
          <p:nvPr/>
        </p:nvSpPr>
        <p:spPr>
          <a:xfrm>
            <a:off x="7452360" y="4663440"/>
            <a:ext cx="361188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26">
            <a:extLst>
              <a:ext uri="{FF2B5EF4-FFF2-40B4-BE49-F238E27FC236}">
                <a16:creationId xmlns:a16="http://schemas.microsoft.com/office/drawing/2014/main" id="{6F67150E-78FF-6EA9-24A7-260353FCC217}"/>
              </a:ext>
            </a:extLst>
          </p:cNvPr>
          <p:cNvSpPr/>
          <p:nvPr/>
        </p:nvSpPr>
        <p:spPr>
          <a:xfrm>
            <a:off x="7406639" y="4617720"/>
            <a:ext cx="3840479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>
                <a:solidFill>
                  <a:srgbClr val="0A1A37"/>
                </a:solidFill>
                <a:latin typeface="Aptos"/>
              </a:rPr>
              <a:t>Random forest</a:t>
            </a:r>
          </a:p>
          <a:p>
            <a:pPr algn="l"/>
            <a:r>
              <a:rPr sz="1200" dirty="0" err="1">
                <a:solidFill>
                  <a:srgbClr val="465470"/>
                </a:solidFill>
                <a:latin typeface="Aptos"/>
              </a:rPr>
              <a:t>approche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supervisée</a:t>
            </a:r>
            <a:r>
              <a:rPr sz="1200" dirty="0">
                <a:solidFill>
                  <a:srgbClr val="465470"/>
                </a:solidFill>
                <a:latin typeface="Aptos"/>
              </a:rPr>
              <a:t> :normal /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atypique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7FCE2247-5C13-33A7-BFE2-FE0547B60DDC}"/>
              </a:ext>
            </a:extLst>
          </p:cNvPr>
          <p:cNvSpPr/>
          <p:nvPr/>
        </p:nvSpPr>
        <p:spPr>
          <a:xfrm>
            <a:off x="7452360" y="5486400"/>
            <a:ext cx="3611880" cy="621792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28">
            <a:extLst>
              <a:ext uri="{FF2B5EF4-FFF2-40B4-BE49-F238E27FC236}">
                <a16:creationId xmlns:a16="http://schemas.microsoft.com/office/drawing/2014/main" id="{3055D5A8-1A4C-2364-64E6-9818E3670F55}"/>
              </a:ext>
            </a:extLst>
          </p:cNvPr>
          <p:cNvSpPr/>
          <p:nvPr/>
        </p:nvSpPr>
        <p:spPr>
          <a:xfrm>
            <a:off x="7406640" y="5440680"/>
            <a:ext cx="384048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l"/>
            <a:r>
              <a:rPr sz="1500" b="1" dirty="0" err="1">
                <a:solidFill>
                  <a:srgbClr val="0A1A37"/>
                </a:solidFill>
                <a:latin typeface="Aptos"/>
              </a:rPr>
              <a:t>Experimentation_Analyse_Comparative</a:t>
            </a:r>
            <a:endParaRPr sz="1500" b="1" dirty="0">
              <a:solidFill>
                <a:srgbClr val="0A1A37"/>
              </a:solidFill>
              <a:latin typeface="Aptos"/>
            </a:endParaRPr>
          </a:p>
          <a:p>
            <a:pPr algn="l"/>
            <a:r>
              <a:rPr sz="1200" dirty="0" err="1">
                <a:solidFill>
                  <a:srgbClr val="465470"/>
                </a:solidFill>
                <a:latin typeface="Aptos"/>
              </a:rPr>
              <a:t>comparaison</a:t>
            </a:r>
            <a:r>
              <a:rPr sz="1200" dirty="0">
                <a:solidFill>
                  <a:srgbClr val="465470"/>
                </a:solidFill>
                <a:latin typeface="Aptos"/>
              </a:rPr>
              <a:t> des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méthodes</a:t>
            </a:r>
            <a:r>
              <a:rPr lang="en-US"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>
                <a:solidFill>
                  <a:srgbClr val="465470"/>
                </a:solidFill>
                <a:latin typeface="Aptos"/>
              </a:rPr>
              <a:t>et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analyse</a:t>
            </a:r>
            <a:r>
              <a:rPr sz="1200" dirty="0">
                <a:solidFill>
                  <a:srgbClr val="465470"/>
                </a:solidFill>
                <a:latin typeface="Aptos"/>
              </a:rPr>
              <a:t> finale</a:t>
            </a:r>
          </a:p>
        </p:txBody>
      </p:sp>
      <p:cxnSp>
        <p:nvCxnSpPr>
          <p:cNvPr id="82" name="Connector 29">
            <a:extLst>
              <a:ext uri="{FF2B5EF4-FFF2-40B4-BE49-F238E27FC236}">
                <a16:creationId xmlns:a16="http://schemas.microsoft.com/office/drawing/2014/main" id="{91B19A54-BC86-A4D1-A5C1-15D5276EC72D}"/>
              </a:ext>
            </a:extLst>
          </p:cNvPr>
          <p:cNvCxnSpPr>
            <a:cxnSpLocks/>
          </p:cNvCxnSpPr>
          <p:nvPr/>
        </p:nvCxnSpPr>
        <p:spPr>
          <a:xfrm>
            <a:off x="5448563" y="2999233"/>
            <a:ext cx="0" cy="27614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31">
            <a:extLst>
              <a:ext uri="{FF2B5EF4-FFF2-40B4-BE49-F238E27FC236}">
                <a16:creationId xmlns:a16="http://schemas.microsoft.com/office/drawing/2014/main" id="{577CF514-8931-17AC-6BEB-6DC5B6085BFF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4480560" y="4105656"/>
            <a:ext cx="96800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32">
            <a:extLst>
              <a:ext uri="{FF2B5EF4-FFF2-40B4-BE49-F238E27FC236}">
                <a16:creationId xmlns:a16="http://schemas.microsoft.com/office/drawing/2014/main" id="{52C57A96-CD1A-1E36-F733-B0380BEAA655}"/>
              </a:ext>
            </a:extLst>
          </p:cNvPr>
          <p:cNvCxnSpPr>
            <a:cxnSpLocks/>
            <a:stCxn id="73" idx="3"/>
          </p:cNvCxnSpPr>
          <p:nvPr/>
        </p:nvCxnSpPr>
        <p:spPr>
          <a:xfrm>
            <a:off x="4480560" y="4928616"/>
            <a:ext cx="96800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33">
            <a:extLst>
              <a:ext uri="{FF2B5EF4-FFF2-40B4-BE49-F238E27FC236}">
                <a16:creationId xmlns:a16="http://schemas.microsoft.com/office/drawing/2014/main" id="{C48EB2CF-2C36-22DF-B620-9B1E7BED52AB}"/>
              </a:ext>
            </a:extLst>
          </p:cNvPr>
          <p:cNvCxnSpPr>
            <a:cxnSpLocks/>
            <a:stCxn id="75" idx="3"/>
          </p:cNvCxnSpPr>
          <p:nvPr/>
        </p:nvCxnSpPr>
        <p:spPr>
          <a:xfrm>
            <a:off x="4480560" y="5751576"/>
            <a:ext cx="96800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37">
            <a:extLst>
              <a:ext uri="{FF2B5EF4-FFF2-40B4-BE49-F238E27FC236}">
                <a16:creationId xmlns:a16="http://schemas.microsoft.com/office/drawing/2014/main" id="{A2A156B0-6D87-4115-250A-7F7D033B7840}"/>
              </a:ext>
            </a:extLst>
          </p:cNvPr>
          <p:cNvSpPr/>
          <p:nvPr/>
        </p:nvSpPr>
        <p:spPr>
          <a:xfrm>
            <a:off x="1042416" y="6181344"/>
            <a:ext cx="10058400" cy="384048"/>
          </a:xfrm>
          <a:prstGeom prst="roundRect">
            <a:avLst>
              <a:gd name="adj" fmla="val 5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38">
            <a:extLst>
              <a:ext uri="{FF2B5EF4-FFF2-40B4-BE49-F238E27FC236}">
                <a16:creationId xmlns:a16="http://schemas.microsoft.com/office/drawing/2014/main" id="{FF250DE2-BB26-52B7-AC0E-751E21C8236F}"/>
              </a:ext>
            </a:extLst>
          </p:cNvPr>
          <p:cNvSpPr/>
          <p:nvPr/>
        </p:nvSpPr>
        <p:spPr>
          <a:xfrm>
            <a:off x="1005840" y="6144768"/>
            <a:ext cx="10058400" cy="384048"/>
          </a:xfrm>
          <a:prstGeom prst="roundRect">
            <a:avLst>
              <a:gd name="adj" fmla="val 5000"/>
            </a:avLst>
          </a:prstGeom>
          <a:solidFill>
            <a:srgbClr val="F8FAFD"/>
          </a:solidFill>
          <a:ln w="1778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27000" rIns="127000" bIns="101600" rtlCol="0" anchor="ctr"/>
          <a:lstStyle/>
          <a:p>
            <a:pPr algn="ctr"/>
            <a:r>
              <a:rPr sz="1280" b="1">
                <a:solidFill>
                  <a:srgbClr val="0A1A37"/>
                </a:solidFill>
                <a:latin typeface="Aptos"/>
              </a:rPr>
              <a:t>Lecture du projet : données brutes → préparation → modèles → comparaison → livrables</a:t>
            </a:r>
          </a:p>
        </p:txBody>
      </p:sp>
      <p:sp>
        <p:nvSpPr>
          <p:cNvPr id="92" name="TextBox 39">
            <a:extLst>
              <a:ext uri="{FF2B5EF4-FFF2-40B4-BE49-F238E27FC236}">
                <a16:creationId xmlns:a16="http://schemas.microsoft.com/office/drawing/2014/main" id="{0E274567-666E-4942-5FC5-9B800DA4C007}"/>
              </a:ext>
            </a:extLst>
          </p:cNvPr>
          <p:cNvSpPr txBox="1"/>
          <p:nvPr/>
        </p:nvSpPr>
        <p:spPr>
          <a:xfrm>
            <a:off x="11795760" y="6565392"/>
            <a:ext cx="182880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700" b="0">
                <a:solidFill>
                  <a:srgbClr val="465470"/>
                </a:solidFill>
                <a:latin typeface="Aptos"/>
              </a:rPr>
              <a:t>6</a:t>
            </a:r>
          </a:p>
        </p:txBody>
      </p:sp>
      <p:cxnSp>
        <p:nvCxnSpPr>
          <p:cNvPr id="106" name="Connector 31">
            <a:extLst>
              <a:ext uri="{FF2B5EF4-FFF2-40B4-BE49-F238E27FC236}">
                <a16:creationId xmlns:a16="http://schemas.microsoft.com/office/drawing/2014/main" id="{C55F8020-E627-ECC4-ECC7-C9C8459DB401}"/>
              </a:ext>
            </a:extLst>
          </p:cNvPr>
          <p:cNvCxnSpPr>
            <a:cxnSpLocks/>
            <a:stCxn id="63" idx="3"/>
          </p:cNvCxnSpPr>
          <p:nvPr/>
        </p:nvCxnSpPr>
        <p:spPr>
          <a:xfrm flipV="1">
            <a:off x="4892040" y="2999233"/>
            <a:ext cx="556523" cy="9143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29">
            <a:extLst>
              <a:ext uri="{FF2B5EF4-FFF2-40B4-BE49-F238E27FC236}">
                <a16:creationId xmlns:a16="http://schemas.microsoft.com/office/drawing/2014/main" id="{BE9B0030-F81E-039A-21C6-A626771D4FA8}"/>
              </a:ext>
            </a:extLst>
          </p:cNvPr>
          <p:cNvCxnSpPr>
            <a:cxnSpLocks/>
          </p:cNvCxnSpPr>
          <p:nvPr/>
        </p:nvCxnSpPr>
        <p:spPr>
          <a:xfrm>
            <a:off x="6758676" y="2990090"/>
            <a:ext cx="0" cy="27614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31">
            <a:extLst>
              <a:ext uri="{FF2B5EF4-FFF2-40B4-BE49-F238E27FC236}">
                <a16:creationId xmlns:a16="http://schemas.microsoft.com/office/drawing/2014/main" id="{B3F45AA1-223C-4339-4226-0536A1AD5677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6758675" y="4095836"/>
            <a:ext cx="647964" cy="982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32">
            <a:extLst>
              <a:ext uri="{FF2B5EF4-FFF2-40B4-BE49-F238E27FC236}">
                <a16:creationId xmlns:a16="http://schemas.microsoft.com/office/drawing/2014/main" id="{D4647229-A917-E726-BB2F-F4A067131967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6758675" y="4928616"/>
            <a:ext cx="64796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33">
            <a:extLst>
              <a:ext uri="{FF2B5EF4-FFF2-40B4-BE49-F238E27FC236}">
                <a16:creationId xmlns:a16="http://schemas.microsoft.com/office/drawing/2014/main" id="{5128E49D-14FE-F286-C510-48BC4A556CA1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758675" y="5751576"/>
            <a:ext cx="64796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31">
            <a:extLst>
              <a:ext uri="{FF2B5EF4-FFF2-40B4-BE49-F238E27FC236}">
                <a16:creationId xmlns:a16="http://schemas.microsoft.com/office/drawing/2014/main" id="{283D9DC2-6D77-A27F-B8C7-6D9DC838875C}"/>
              </a:ext>
            </a:extLst>
          </p:cNvPr>
          <p:cNvCxnSpPr>
            <a:cxnSpLocks/>
          </p:cNvCxnSpPr>
          <p:nvPr/>
        </p:nvCxnSpPr>
        <p:spPr>
          <a:xfrm flipV="1">
            <a:off x="6758675" y="2999233"/>
            <a:ext cx="556523" cy="9143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général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25880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93FD345D-98A2-7B5A-63B7-738863065C3A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AECC0AC6-ED3F-B081-4C02-2D8D542497B7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5B6CC583-02BE-96F6-3ACC-7B0CF9A611AF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6">
            <a:extLst>
              <a:ext uri="{FF2B5EF4-FFF2-40B4-BE49-F238E27FC236}">
                <a16:creationId xmlns:a16="http://schemas.microsoft.com/office/drawing/2014/main" id="{AD5D6156-742F-65E0-3DA3-22FC83D9701F}"/>
              </a:ext>
            </a:extLst>
          </p:cNvPr>
          <p:cNvSpPr txBox="1"/>
          <p:nvPr/>
        </p:nvSpPr>
        <p:spPr>
          <a:xfrm>
            <a:off x="1005840" y="1261872"/>
            <a:ext cx="4169026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465470"/>
                </a:solidFill>
                <a:latin typeface="Aptos"/>
              </a:rPr>
              <a:t>Du JSON brut à la </a:t>
            </a:r>
            <a:r>
              <a:rPr sz="1600" b="1" dirty="0" err="1">
                <a:solidFill>
                  <a:srgbClr val="465470"/>
                </a:solidFill>
                <a:latin typeface="Aptos"/>
              </a:rPr>
              <a:t>comparaison</a:t>
            </a:r>
            <a:r>
              <a:rPr sz="1600" b="1" dirty="0">
                <a:solidFill>
                  <a:srgbClr val="465470"/>
                </a:solidFill>
                <a:latin typeface="Aptos"/>
              </a:rPr>
              <a:t> des </a:t>
            </a:r>
            <a:r>
              <a:rPr sz="1600" b="1" dirty="0" err="1">
                <a:solidFill>
                  <a:srgbClr val="465470"/>
                </a:solidFill>
                <a:latin typeface="Aptos"/>
              </a:rPr>
              <a:t>modèles</a:t>
            </a:r>
            <a:r>
              <a:rPr sz="1600" b="1" dirty="0">
                <a:solidFill>
                  <a:srgbClr val="465470"/>
                </a:solidFill>
                <a:latin typeface="Aptos"/>
              </a:rPr>
              <a:t>.</a:t>
            </a: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BD872C4F-198B-D804-D822-4EF983B43D6D}"/>
              </a:ext>
            </a:extLst>
          </p:cNvPr>
          <p:cNvSpPr/>
          <p:nvPr/>
        </p:nvSpPr>
        <p:spPr>
          <a:xfrm>
            <a:off x="420623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8">
            <a:extLst>
              <a:ext uri="{FF2B5EF4-FFF2-40B4-BE49-F238E27FC236}">
                <a16:creationId xmlns:a16="http://schemas.microsoft.com/office/drawing/2014/main" id="{D4C79663-1CA6-9B4A-640C-5DAA4D03D283}"/>
              </a:ext>
            </a:extLst>
          </p:cNvPr>
          <p:cNvSpPr/>
          <p:nvPr/>
        </p:nvSpPr>
        <p:spPr>
          <a:xfrm>
            <a:off x="384048" y="205740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F2F6FC"/>
          </a:solidFill>
          <a:ln w="1651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9">
            <a:extLst>
              <a:ext uri="{FF2B5EF4-FFF2-40B4-BE49-F238E27FC236}">
                <a16:creationId xmlns:a16="http://schemas.microsoft.com/office/drawing/2014/main" id="{049FE8C8-FCED-F1B6-CFA9-05560B2E6138}"/>
              </a:ext>
            </a:extLst>
          </p:cNvPr>
          <p:cNvSpPr/>
          <p:nvPr/>
        </p:nvSpPr>
        <p:spPr>
          <a:xfrm>
            <a:off x="996696" y="2258568"/>
            <a:ext cx="384048" cy="384048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3B9C4F03-B173-2A9E-8A01-FCAC1DDBBD98}"/>
              </a:ext>
            </a:extLst>
          </p:cNvPr>
          <p:cNvSpPr txBox="1"/>
          <p:nvPr/>
        </p:nvSpPr>
        <p:spPr>
          <a:xfrm>
            <a:off x="436518" y="2903329"/>
            <a:ext cx="1650708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dirty="0">
                <a:solidFill>
                  <a:srgbClr val="0A1A37"/>
                </a:solidFill>
                <a:latin typeface="Aptos"/>
              </a:rPr>
              <a:t>Ingestion MongoDB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0E02868F-D8B3-C068-D8A3-71A964EC5301}"/>
              </a:ext>
            </a:extLst>
          </p:cNvPr>
          <p:cNvSpPr txBox="1"/>
          <p:nvPr/>
        </p:nvSpPr>
        <p:spPr>
          <a:xfrm>
            <a:off x="393461" y="3514528"/>
            <a:ext cx="1736822" cy="276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465470"/>
                </a:solidFill>
                <a:latin typeface="Aptos"/>
              </a:rPr>
              <a:t>Documents JSON bruts</a:t>
            </a:r>
          </a:p>
        </p:txBody>
      </p:sp>
      <p:cxnSp>
        <p:nvCxnSpPr>
          <p:cNvPr id="26" name="Connector 12">
            <a:extLst>
              <a:ext uri="{FF2B5EF4-FFF2-40B4-BE49-F238E27FC236}">
                <a16:creationId xmlns:a16="http://schemas.microsoft.com/office/drawing/2014/main" id="{D9BE933E-09C0-B8F8-286B-C41F7E90A0D5}"/>
              </a:ext>
            </a:extLst>
          </p:cNvPr>
          <p:cNvCxnSpPr/>
          <p:nvPr/>
        </p:nvCxnSpPr>
        <p:spPr>
          <a:xfrm>
            <a:off x="2139696" y="3063240"/>
            <a:ext cx="219456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3">
            <a:extLst>
              <a:ext uri="{FF2B5EF4-FFF2-40B4-BE49-F238E27FC236}">
                <a16:creationId xmlns:a16="http://schemas.microsoft.com/office/drawing/2014/main" id="{084B8864-AC17-BD80-4A36-7FBAEDC913CB}"/>
              </a:ext>
            </a:extLst>
          </p:cNvPr>
          <p:cNvSpPr/>
          <p:nvPr/>
        </p:nvSpPr>
        <p:spPr>
          <a:xfrm>
            <a:off x="2395728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14">
            <a:extLst>
              <a:ext uri="{FF2B5EF4-FFF2-40B4-BE49-F238E27FC236}">
                <a16:creationId xmlns:a16="http://schemas.microsoft.com/office/drawing/2014/main" id="{B27BCE50-CC94-B1FE-B658-B085C1E07212}"/>
              </a:ext>
            </a:extLst>
          </p:cNvPr>
          <p:cNvSpPr/>
          <p:nvPr/>
        </p:nvSpPr>
        <p:spPr>
          <a:xfrm>
            <a:off x="2359152" y="205740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EF8F4"/>
          </a:solidFill>
          <a:ln w="1651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15">
            <a:extLst>
              <a:ext uri="{FF2B5EF4-FFF2-40B4-BE49-F238E27FC236}">
                <a16:creationId xmlns:a16="http://schemas.microsoft.com/office/drawing/2014/main" id="{94E741C6-0138-C4F2-5074-F48A9A1923AB}"/>
              </a:ext>
            </a:extLst>
          </p:cNvPr>
          <p:cNvSpPr/>
          <p:nvPr/>
        </p:nvSpPr>
        <p:spPr>
          <a:xfrm>
            <a:off x="2971800" y="2258568"/>
            <a:ext cx="384048" cy="384048"/>
          </a:xfrm>
          <a:prstGeom prst="ellipse">
            <a:avLst/>
          </a:prstGeom>
          <a:solidFill>
            <a:srgbClr val="00B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0" name="TextBox 16">
            <a:extLst>
              <a:ext uri="{FF2B5EF4-FFF2-40B4-BE49-F238E27FC236}">
                <a16:creationId xmlns:a16="http://schemas.microsoft.com/office/drawing/2014/main" id="{D7683663-15FB-2856-E07F-A98B05D3858E}"/>
              </a:ext>
            </a:extLst>
          </p:cNvPr>
          <p:cNvSpPr txBox="1"/>
          <p:nvPr/>
        </p:nvSpPr>
        <p:spPr>
          <a:xfrm>
            <a:off x="2425472" y="2903330"/>
            <a:ext cx="1623008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dirty="0">
                <a:solidFill>
                  <a:srgbClr val="0A1A37"/>
                </a:solidFill>
                <a:latin typeface="Aptos"/>
              </a:rPr>
              <a:t>Extraction features</a:t>
            </a:r>
          </a:p>
        </p:txBody>
      </p:sp>
      <p:sp>
        <p:nvSpPr>
          <p:cNvPr id="31" name="TextBox 17">
            <a:extLst>
              <a:ext uri="{FF2B5EF4-FFF2-40B4-BE49-F238E27FC236}">
                <a16:creationId xmlns:a16="http://schemas.microsoft.com/office/drawing/2014/main" id="{C764EFE8-9452-867A-2EFE-4B1637F7E19C}"/>
              </a:ext>
            </a:extLst>
          </p:cNvPr>
          <p:cNvSpPr txBox="1"/>
          <p:nvPr/>
        </p:nvSpPr>
        <p:spPr>
          <a:xfrm>
            <a:off x="2388699" y="3514528"/>
            <a:ext cx="1696555" cy="276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Variables tweet et user</a:t>
            </a:r>
          </a:p>
        </p:txBody>
      </p:sp>
      <p:cxnSp>
        <p:nvCxnSpPr>
          <p:cNvPr id="32" name="Connector 18">
            <a:extLst>
              <a:ext uri="{FF2B5EF4-FFF2-40B4-BE49-F238E27FC236}">
                <a16:creationId xmlns:a16="http://schemas.microsoft.com/office/drawing/2014/main" id="{BF7E3D6C-9311-82AB-FEA9-28392CB3E7E8}"/>
              </a:ext>
            </a:extLst>
          </p:cNvPr>
          <p:cNvCxnSpPr/>
          <p:nvPr/>
        </p:nvCxnSpPr>
        <p:spPr>
          <a:xfrm>
            <a:off x="4114800" y="3063240"/>
            <a:ext cx="219456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19">
            <a:extLst>
              <a:ext uri="{FF2B5EF4-FFF2-40B4-BE49-F238E27FC236}">
                <a16:creationId xmlns:a16="http://schemas.microsoft.com/office/drawing/2014/main" id="{F0764CDE-8675-92FD-8DC4-EC41A2653902}"/>
              </a:ext>
            </a:extLst>
          </p:cNvPr>
          <p:cNvSpPr/>
          <p:nvPr/>
        </p:nvSpPr>
        <p:spPr>
          <a:xfrm>
            <a:off x="4370832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20">
            <a:extLst>
              <a:ext uri="{FF2B5EF4-FFF2-40B4-BE49-F238E27FC236}">
                <a16:creationId xmlns:a16="http://schemas.microsoft.com/office/drawing/2014/main" id="{62A697D4-AA0E-FB00-EC58-D032B29872E8}"/>
              </a:ext>
            </a:extLst>
          </p:cNvPr>
          <p:cNvSpPr/>
          <p:nvPr/>
        </p:nvSpPr>
        <p:spPr>
          <a:xfrm>
            <a:off x="4334256" y="205740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FCF6EE"/>
          </a:solidFill>
          <a:ln w="1651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21">
            <a:extLst>
              <a:ext uri="{FF2B5EF4-FFF2-40B4-BE49-F238E27FC236}">
                <a16:creationId xmlns:a16="http://schemas.microsoft.com/office/drawing/2014/main" id="{F6362BA5-40DB-F8DD-3ABE-6229323C5A02}"/>
              </a:ext>
            </a:extLst>
          </p:cNvPr>
          <p:cNvSpPr/>
          <p:nvPr/>
        </p:nvSpPr>
        <p:spPr>
          <a:xfrm>
            <a:off x="4946904" y="2258568"/>
            <a:ext cx="384048" cy="384048"/>
          </a:xfrm>
          <a:prstGeom prst="ellipse">
            <a:avLst/>
          </a:prstGeom>
          <a:solidFill>
            <a:srgbClr val="F6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6" name="TextBox 22">
            <a:extLst>
              <a:ext uri="{FF2B5EF4-FFF2-40B4-BE49-F238E27FC236}">
                <a16:creationId xmlns:a16="http://schemas.microsoft.com/office/drawing/2014/main" id="{6D11C8CB-F7F2-FC9B-3C2F-27397A394B00}"/>
              </a:ext>
            </a:extLst>
          </p:cNvPr>
          <p:cNvSpPr txBox="1"/>
          <p:nvPr/>
        </p:nvSpPr>
        <p:spPr>
          <a:xfrm>
            <a:off x="4306704" y="2903330"/>
            <a:ext cx="1810752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1A37"/>
                </a:solidFill>
                <a:latin typeface="Aptos"/>
              </a:rPr>
              <a:t>Agrégation utilisateur</a:t>
            </a:r>
          </a:p>
        </p:txBody>
      </p:sp>
      <p:sp>
        <p:nvSpPr>
          <p:cNvPr id="37" name="TextBox 23">
            <a:extLst>
              <a:ext uri="{FF2B5EF4-FFF2-40B4-BE49-F238E27FC236}">
                <a16:creationId xmlns:a16="http://schemas.microsoft.com/office/drawing/2014/main" id="{69FAAC48-93FC-4B67-33C6-7DB301182605}"/>
              </a:ext>
            </a:extLst>
          </p:cNvPr>
          <p:cNvSpPr txBox="1"/>
          <p:nvPr/>
        </p:nvSpPr>
        <p:spPr>
          <a:xfrm>
            <a:off x="4636153" y="3422195"/>
            <a:ext cx="1151854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1,84 M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profils</a:t>
            </a:r>
            <a:r>
              <a:rPr sz="1200" dirty="0">
                <a:solidFill>
                  <a:srgbClr val="465470"/>
                </a:solidFill>
                <a:latin typeface="Aptos"/>
              </a:rPr>
              <a:t>, </a:t>
            </a:r>
            <a:endParaRPr lang="en-US" sz="1200" dirty="0">
              <a:solidFill>
                <a:srgbClr val="465470"/>
              </a:solidFill>
              <a:latin typeface="Aptos"/>
            </a:endParaRP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25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colonnes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cxnSp>
        <p:nvCxnSpPr>
          <p:cNvPr id="38" name="Connector 24">
            <a:extLst>
              <a:ext uri="{FF2B5EF4-FFF2-40B4-BE49-F238E27FC236}">
                <a16:creationId xmlns:a16="http://schemas.microsoft.com/office/drawing/2014/main" id="{CE700ABA-541C-E772-C097-EAD2493731B8}"/>
              </a:ext>
            </a:extLst>
          </p:cNvPr>
          <p:cNvCxnSpPr/>
          <p:nvPr/>
        </p:nvCxnSpPr>
        <p:spPr>
          <a:xfrm>
            <a:off x="6089904" y="3063240"/>
            <a:ext cx="219456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25">
            <a:extLst>
              <a:ext uri="{FF2B5EF4-FFF2-40B4-BE49-F238E27FC236}">
                <a16:creationId xmlns:a16="http://schemas.microsoft.com/office/drawing/2014/main" id="{F0A14D87-50B1-0B53-D61F-821A1598861B}"/>
              </a:ext>
            </a:extLst>
          </p:cNvPr>
          <p:cNvSpPr/>
          <p:nvPr/>
        </p:nvSpPr>
        <p:spPr>
          <a:xfrm>
            <a:off x="6345936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26">
            <a:extLst>
              <a:ext uri="{FF2B5EF4-FFF2-40B4-BE49-F238E27FC236}">
                <a16:creationId xmlns:a16="http://schemas.microsoft.com/office/drawing/2014/main" id="{7427E75D-1F24-AD18-FD1F-786DA0AD5C2D}"/>
              </a:ext>
            </a:extLst>
          </p:cNvPr>
          <p:cNvSpPr/>
          <p:nvPr/>
        </p:nvSpPr>
        <p:spPr>
          <a:xfrm>
            <a:off x="6309359" y="2057400"/>
            <a:ext cx="1789481" cy="2011680"/>
          </a:xfrm>
          <a:prstGeom prst="roundRect">
            <a:avLst>
              <a:gd name="adj" fmla="val 5500"/>
            </a:avLst>
          </a:prstGeom>
          <a:solidFill>
            <a:srgbClr val="F2F6FC"/>
          </a:solidFill>
          <a:ln w="1651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27">
            <a:extLst>
              <a:ext uri="{FF2B5EF4-FFF2-40B4-BE49-F238E27FC236}">
                <a16:creationId xmlns:a16="http://schemas.microsoft.com/office/drawing/2014/main" id="{35A498DE-2045-31D3-56FA-B2075C52B61F}"/>
              </a:ext>
            </a:extLst>
          </p:cNvPr>
          <p:cNvSpPr/>
          <p:nvPr/>
        </p:nvSpPr>
        <p:spPr>
          <a:xfrm>
            <a:off x="6922008" y="2258568"/>
            <a:ext cx="384048" cy="384048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TextBox 28">
            <a:extLst>
              <a:ext uri="{FF2B5EF4-FFF2-40B4-BE49-F238E27FC236}">
                <a16:creationId xmlns:a16="http://schemas.microsoft.com/office/drawing/2014/main" id="{8AD34B4F-9F62-82EF-CE20-B726DC8F8293}"/>
              </a:ext>
            </a:extLst>
          </p:cNvPr>
          <p:cNvSpPr txBox="1"/>
          <p:nvPr/>
        </p:nvSpPr>
        <p:spPr>
          <a:xfrm>
            <a:off x="6189058" y="2903330"/>
            <a:ext cx="1996252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1A37"/>
                </a:solidFill>
                <a:latin typeface="Aptos"/>
              </a:rPr>
              <a:t>Construction des labels</a:t>
            </a:r>
          </a:p>
        </p:txBody>
      </p:sp>
      <p:sp>
        <p:nvSpPr>
          <p:cNvPr id="43" name="TextBox 29">
            <a:extLst>
              <a:ext uri="{FF2B5EF4-FFF2-40B4-BE49-F238E27FC236}">
                <a16:creationId xmlns:a16="http://schemas.microsoft.com/office/drawing/2014/main" id="{ACBDF784-CC31-B23E-D3F6-FA47A1EC4547}"/>
              </a:ext>
            </a:extLst>
          </p:cNvPr>
          <p:cNvSpPr txBox="1"/>
          <p:nvPr/>
        </p:nvSpPr>
        <p:spPr>
          <a:xfrm>
            <a:off x="6382253" y="3422195"/>
            <a:ext cx="1609863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dirty="0" err="1">
                <a:solidFill>
                  <a:srgbClr val="465470"/>
                </a:solidFill>
                <a:latin typeface="Aptos"/>
              </a:rPr>
              <a:t>Règles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expertes</a:t>
            </a:r>
            <a:r>
              <a:rPr sz="1200" dirty="0">
                <a:solidFill>
                  <a:srgbClr val="465470"/>
                </a:solidFill>
                <a:latin typeface="Aptos"/>
              </a:rPr>
              <a:t> pour </a:t>
            </a:r>
            <a:endParaRPr lang="en-US" sz="1200" dirty="0">
              <a:solidFill>
                <a:srgbClr val="465470"/>
              </a:solidFill>
              <a:latin typeface="Aptos"/>
            </a:endParaRPr>
          </a:p>
          <a:p>
            <a:pPr algn="ctr"/>
            <a:r>
              <a:rPr sz="1200" dirty="0" err="1">
                <a:solidFill>
                  <a:srgbClr val="465470"/>
                </a:solidFill>
                <a:latin typeface="Aptos"/>
              </a:rPr>
              <a:t>définir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atypique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cxnSp>
        <p:nvCxnSpPr>
          <p:cNvPr id="44" name="Connector 30">
            <a:extLst>
              <a:ext uri="{FF2B5EF4-FFF2-40B4-BE49-F238E27FC236}">
                <a16:creationId xmlns:a16="http://schemas.microsoft.com/office/drawing/2014/main" id="{3C512276-0779-4ACD-A04B-4094295536ED}"/>
              </a:ext>
            </a:extLst>
          </p:cNvPr>
          <p:cNvCxnSpPr/>
          <p:nvPr/>
        </p:nvCxnSpPr>
        <p:spPr>
          <a:xfrm>
            <a:off x="8065008" y="3063240"/>
            <a:ext cx="219456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31">
            <a:extLst>
              <a:ext uri="{FF2B5EF4-FFF2-40B4-BE49-F238E27FC236}">
                <a16:creationId xmlns:a16="http://schemas.microsoft.com/office/drawing/2014/main" id="{B98A6707-5C48-AAD2-92A4-F58A309AD4EF}"/>
              </a:ext>
            </a:extLst>
          </p:cNvPr>
          <p:cNvSpPr/>
          <p:nvPr/>
        </p:nvSpPr>
        <p:spPr>
          <a:xfrm>
            <a:off x="8321040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32">
            <a:extLst>
              <a:ext uri="{FF2B5EF4-FFF2-40B4-BE49-F238E27FC236}">
                <a16:creationId xmlns:a16="http://schemas.microsoft.com/office/drawing/2014/main" id="{599C1424-3126-77F9-CE4C-72699A9CF6F1}"/>
              </a:ext>
            </a:extLst>
          </p:cNvPr>
          <p:cNvSpPr/>
          <p:nvPr/>
        </p:nvSpPr>
        <p:spPr>
          <a:xfrm>
            <a:off x="8284464" y="205740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EF8F4"/>
          </a:solidFill>
          <a:ln w="1651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33">
            <a:extLst>
              <a:ext uri="{FF2B5EF4-FFF2-40B4-BE49-F238E27FC236}">
                <a16:creationId xmlns:a16="http://schemas.microsoft.com/office/drawing/2014/main" id="{6090808A-E16F-3B3D-B2C5-D36C1E099127}"/>
              </a:ext>
            </a:extLst>
          </p:cNvPr>
          <p:cNvSpPr/>
          <p:nvPr/>
        </p:nvSpPr>
        <p:spPr>
          <a:xfrm>
            <a:off x="8897112" y="2258568"/>
            <a:ext cx="384048" cy="384048"/>
          </a:xfrm>
          <a:prstGeom prst="ellipse">
            <a:avLst/>
          </a:prstGeom>
          <a:solidFill>
            <a:srgbClr val="00B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8" name="TextBox 34">
            <a:extLst>
              <a:ext uri="{FF2B5EF4-FFF2-40B4-BE49-F238E27FC236}">
                <a16:creationId xmlns:a16="http://schemas.microsoft.com/office/drawing/2014/main" id="{4958FECE-3971-A58C-1708-1B269E88BA81}"/>
              </a:ext>
            </a:extLst>
          </p:cNvPr>
          <p:cNvSpPr txBox="1"/>
          <p:nvPr/>
        </p:nvSpPr>
        <p:spPr>
          <a:xfrm>
            <a:off x="8574370" y="2903330"/>
            <a:ext cx="1175835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1A37"/>
                </a:solidFill>
                <a:latin typeface="Aptos"/>
              </a:rPr>
              <a:t>Modélisation</a:t>
            </a:r>
          </a:p>
        </p:txBody>
      </p:sp>
      <p:sp>
        <p:nvSpPr>
          <p:cNvPr id="49" name="TextBox 35">
            <a:extLst>
              <a:ext uri="{FF2B5EF4-FFF2-40B4-BE49-F238E27FC236}">
                <a16:creationId xmlns:a16="http://schemas.microsoft.com/office/drawing/2014/main" id="{B1B0105D-C88A-F620-E938-3CC6926CA29A}"/>
              </a:ext>
            </a:extLst>
          </p:cNvPr>
          <p:cNvSpPr txBox="1"/>
          <p:nvPr/>
        </p:nvSpPr>
        <p:spPr>
          <a:xfrm>
            <a:off x="8563022" y="3422195"/>
            <a:ext cx="1198533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K-Means  </a:t>
            </a:r>
            <a:endParaRPr lang="en-US" sz="1200" dirty="0">
              <a:solidFill>
                <a:srgbClr val="465470"/>
              </a:solidFill>
              <a:latin typeface="Aptos"/>
            </a:endParaRP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Random Forest</a:t>
            </a:r>
          </a:p>
        </p:txBody>
      </p:sp>
      <p:cxnSp>
        <p:nvCxnSpPr>
          <p:cNvPr id="50" name="Connector 36">
            <a:extLst>
              <a:ext uri="{FF2B5EF4-FFF2-40B4-BE49-F238E27FC236}">
                <a16:creationId xmlns:a16="http://schemas.microsoft.com/office/drawing/2014/main" id="{F519EBD2-AEB4-4A00-E35F-198AEFF0B822}"/>
              </a:ext>
            </a:extLst>
          </p:cNvPr>
          <p:cNvCxnSpPr/>
          <p:nvPr/>
        </p:nvCxnSpPr>
        <p:spPr>
          <a:xfrm>
            <a:off x="10040112" y="3063240"/>
            <a:ext cx="219456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37">
            <a:extLst>
              <a:ext uri="{FF2B5EF4-FFF2-40B4-BE49-F238E27FC236}">
                <a16:creationId xmlns:a16="http://schemas.microsoft.com/office/drawing/2014/main" id="{A7482436-61E3-CFF5-D6C8-03660B63A455}"/>
              </a:ext>
            </a:extLst>
          </p:cNvPr>
          <p:cNvSpPr/>
          <p:nvPr/>
        </p:nvSpPr>
        <p:spPr>
          <a:xfrm>
            <a:off x="10296144" y="210312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38">
            <a:extLst>
              <a:ext uri="{FF2B5EF4-FFF2-40B4-BE49-F238E27FC236}">
                <a16:creationId xmlns:a16="http://schemas.microsoft.com/office/drawing/2014/main" id="{159C5D17-EA1B-9760-3090-180697DDD399}"/>
              </a:ext>
            </a:extLst>
          </p:cNvPr>
          <p:cNvSpPr/>
          <p:nvPr/>
        </p:nvSpPr>
        <p:spPr>
          <a:xfrm>
            <a:off x="10259568" y="2057400"/>
            <a:ext cx="1755648" cy="2011680"/>
          </a:xfrm>
          <a:prstGeom prst="roundRect">
            <a:avLst>
              <a:gd name="adj" fmla="val 5500"/>
            </a:avLst>
          </a:prstGeom>
          <a:solidFill>
            <a:srgbClr val="FCF6EE"/>
          </a:solidFill>
          <a:ln w="1651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39">
            <a:extLst>
              <a:ext uri="{FF2B5EF4-FFF2-40B4-BE49-F238E27FC236}">
                <a16:creationId xmlns:a16="http://schemas.microsoft.com/office/drawing/2014/main" id="{9B194755-A5A4-1607-A32C-0BD1191CE67A}"/>
              </a:ext>
            </a:extLst>
          </p:cNvPr>
          <p:cNvSpPr/>
          <p:nvPr/>
        </p:nvSpPr>
        <p:spPr>
          <a:xfrm>
            <a:off x="10872216" y="2258568"/>
            <a:ext cx="384048" cy="384048"/>
          </a:xfrm>
          <a:prstGeom prst="ellipse">
            <a:avLst/>
          </a:prstGeom>
          <a:solidFill>
            <a:srgbClr val="F6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4" name="TextBox 40">
            <a:extLst>
              <a:ext uri="{FF2B5EF4-FFF2-40B4-BE49-F238E27FC236}">
                <a16:creationId xmlns:a16="http://schemas.microsoft.com/office/drawing/2014/main" id="{CAA5ADA5-316F-8CE0-7B6F-E93C731AE44F}"/>
              </a:ext>
            </a:extLst>
          </p:cNvPr>
          <p:cNvSpPr txBox="1"/>
          <p:nvPr/>
        </p:nvSpPr>
        <p:spPr>
          <a:xfrm>
            <a:off x="10534566" y="2903330"/>
            <a:ext cx="1205651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1A37"/>
                </a:solidFill>
                <a:latin typeface="Aptos"/>
              </a:rPr>
              <a:t>Comparaison</a:t>
            </a:r>
          </a:p>
        </p:txBody>
      </p:sp>
      <p:sp>
        <p:nvSpPr>
          <p:cNvPr id="55" name="TextBox 41">
            <a:extLst>
              <a:ext uri="{FF2B5EF4-FFF2-40B4-BE49-F238E27FC236}">
                <a16:creationId xmlns:a16="http://schemas.microsoft.com/office/drawing/2014/main" id="{22AF44BD-5600-318E-782A-E3E97C32831C}"/>
              </a:ext>
            </a:extLst>
          </p:cNvPr>
          <p:cNvSpPr txBox="1"/>
          <p:nvPr/>
        </p:nvSpPr>
        <p:spPr>
          <a:xfrm>
            <a:off x="10446883" y="3422195"/>
            <a:ext cx="1381019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dirty="0" err="1">
                <a:solidFill>
                  <a:srgbClr val="465470"/>
                </a:solidFill>
                <a:latin typeface="Aptos"/>
              </a:rPr>
              <a:t>Résultats</a:t>
            </a:r>
            <a:r>
              <a:rPr sz="1200" dirty="0">
                <a:solidFill>
                  <a:srgbClr val="465470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limites</a:t>
            </a:r>
            <a:r>
              <a:rPr sz="1200" dirty="0">
                <a:solidFill>
                  <a:srgbClr val="465470"/>
                </a:solidFill>
                <a:latin typeface="Aptos"/>
              </a:rPr>
              <a:t>,</a:t>
            </a:r>
            <a:endParaRPr lang="en-US" sz="1200" dirty="0">
              <a:solidFill>
                <a:srgbClr val="465470"/>
              </a:solidFill>
              <a:latin typeface="Aptos"/>
            </a:endParaRP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complémentarité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56" name="Rounded Rectangle 42">
            <a:extLst>
              <a:ext uri="{FF2B5EF4-FFF2-40B4-BE49-F238E27FC236}">
                <a16:creationId xmlns:a16="http://schemas.microsoft.com/office/drawing/2014/main" id="{2BC441EB-67F9-6A01-C7BB-D5BE94A17D22}"/>
              </a:ext>
            </a:extLst>
          </p:cNvPr>
          <p:cNvSpPr/>
          <p:nvPr/>
        </p:nvSpPr>
        <p:spPr>
          <a:xfrm>
            <a:off x="2331720" y="5074920"/>
            <a:ext cx="7452360" cy="530352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i="1" dirty="0">
                <a:solidFill>
                  <a:srgbClr val="465470"/>
                </a:solidFill>
                <a:latin typeface="Aptos"/>
              </a:rPr>
              <a:t>Le pipeline est </a:t>
            </a:r>
            <a:r>
              <a:rPr sz="1500" i="1" dirty="0" err="1">
                <a:solidFill>
                  <a:srgbClr val="465470"/>
                </a:solidFill>
                <a:latin typeface="Aptos"/>
              </a:rPr>
              <a:t>organisé</a:t>
            </a:r>
            <a:r>
              <a:rPr sz="1500" i="1" dirty="0">
                <a:solidFill>
                  <a:srgbClr val="465470"/>
                </a:solidFill>
                <a:latin typeface="Aptos"/>
              </a:rPr>
              <a:t> </a:t>
            </a:r>
            <a:r>
              <a:rPr sz="1500" i="1" dirty="0" err="1">
                <a:solidFill>
                  <a:srgbClr val="465470"/>
                </a:solidFill>
                <a:latin typeface="Aptos"/>
              </a:rPr>
              <a:t>en</a:t>
            </a:r>
            <a:r>
              <a:rPr sz="1500" i="1" dirty="0">
                <a:solidFill>
                  <a:srgbClr val="465470"/>
                </a:solidFill>
                <a:latin typeface="Aptos"/>
              </a:rPr>
              <a:t> </a:t>
            </a:r>
            <a:r>
              <a:rPr sz="1500" i="1" dirty="0" err="1">
                <a:solidFill>
                  <a:srgbClr val="465470"/>
                </a:solidFill>
                <a:latin typeface="Aptos"/>
              </a:rPr>
              <a:t>plusieurs</a:t>
            </a:r>
            <a:r>
              <a:rPr sz="1500" i="1" dirty="0">
                <a:solidFill>
                  <a:srgbClr val="465470"/>
                </a:solidFill>
                <a:latin typeface="Aptos"/>
              </a:rPr>
              <a:t> notebooks </a:t>
            </a:r>
            <a:r>
              <a:rPr sz="1500" i="1" dirty="0" err="1">
                <a:solidFill>
                  <a:srgbClr val="465470"/>
                </a:solidFill>
                <a:latin typeface="Aptos"/>
              </a:rPr>
              <a:t>Jupyter</a:t>
            </a:r>
            <a:r>
              <a:rPr sz="1500" i="1" dirty="0">
                <a:solidFill>
                  <a:srgbClr val="465470"/>
                </a:solidFill>
                <a:latin typeface="Aptos"/>
              </a:rPr>
              <a:t> qui </a:t>
            </a:r>
            <a:r>
              <a:rPr sz="1500" i="1" dirty="0" err="1">
                <a:solidFill>
                  <a:srgbClr val="465470"/>
                </a:solidFill>
                <a:latin typeface="Aptos"/>
              </a:rPr>
              <a:t>s’enchaînent</a:t>
            </a:r>
            <a:r>
              <a:rPr sz="1500" i="1" dirty="0">
                <a:solidFill>
                  <a:srgbClr val="465470"/>
                </a:solidFill>
                <a:latin typeface="Aptos"/>
              </a:rPr>
              <a:t>.</a:t>
            </a:r>
          </a:p>
        </p:txBody>
      </p:sp>
      <p:sp>
        <p:nvSpPr>
          <p:cNvPr id="57" name="Rounded Rectangle 43">
            <a:extLst>
              <a:ext uri="{FF2B5EF4-FFF2-40B4-BE49-F238E27FC236}">
                <a16:creationId xmlns:a16="http://schemas.microsoft.com/office/drawing/2014/main" id="{FC250EDC-65D6-9F5A-8DBA-18D9893C965A}"/>
              </a:ext>
            </a:extLst>
          </p:cNvPr>
          <p:cNvSpPr/>
          <p:nvPr/>
        </p:nvSpPr>
        <p:spPr>
          <a:xfrm>
            <a:off x="1005840" y="5870448"/>
            <a:ext cx="10058400" cy="41148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0A1A37"/>
                </a:solidFill>
                <a:latin typeface="Aptos"/>
              </a:rPr>
              <a:t>Lecture du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projet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: données brutes →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préparation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→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modèles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→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comparaison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.</a:t>
            </a:r>
          </a:p>
        </p:txBody>
      </p:sp>
      <p:sp>
        <p:nvSpPr>
          <p:cNvPr id="58" name="TextBox 44">
            <a:extLst>
              <a:ext uri="{FF2B5EF4-FFF2-40B4-BE49-F238E27FC236}">
                <a16:creationId xmlns:a16="http://schemas.microsoft.com/office/drawing/2014/main" id="{79309B05-4744-2815-BFDF-B53ABDCBF233}"/>
              </a:ext>
            </a:extLst>
          </p:cNvPr>
          <p:cNvSpPr txBox="1"/>
          <p:nvPr/>
        </p:nvSpPr>
        <p:spPr>
          <a:xfrm>
            <a:off x="11795760" y="6565392"/>
            <a:ext cx="182880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700" b="0">
                <a:solidFill>
                  <a:srgbClr val="46547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Préparation des données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EE5F5ABB-1B04-4266-620E-35037A4AD03E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DCBCFC62-3841-0765-6BBC-2EDD10D02582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4" name="Connector 5">
            <a:extLst>
              <a:ext uri="{FF2B5EF4-FFF2-40B4-BE49-F238E27FC236}">
                <a16:creationId xmlns:a16="http://schemas.microsoft.com/office/drawing/2014/main" id="{6D06CFEF-BDB4-31C6-7255-F7722BF0E8C4}"/>
              </a:ext>
            </a:extLst>
          </p:cNvPr>
          <p:cNvCxnSpPr/>
          <p:nvPr/>
        </p:nvCxnSpPr>
        <p:spPr>
          <a:xfrm>
            <a:off x="1078992" y="896112"/>
            <a:ext cx="9802368" cy="0"/>
          </a:xfrm>
          <a:prstGeom prst="line">
            <a:avLst/>
          </a:prstGeom>
          <a:ln w="1270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E996D564-07C2-1C81-81FF-BFC9B433C750}"/>
              </a:ext>
            </a:extLst>
          </p:cNvPr>
          <p:cNvSpPr/>
          <p:nvPr/>
        </p:nvSpPr>
        <p:spPr>
          <a:xfrm>
            <a:off x="569671" y="1069422"/>
            <a:ext cx="1965960" cy="384048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32FF01FD-FCFD-7077-23B2-533FE20BA963}"/>
              </a:ext>
            </a:extLst>
          </p:cNvPr>
          <p:cNvSpPr/>
          <p:nvPr/>
        </p:nvSpPr>
        <p:spPr>
          <a:xfrm>
            <a:off x="615391" y="1097279"/>
            <a:ext cx="1965960" cy="384048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76200" rtlCol="0" anchor="ctr"/>
          <a:lstStyle/>
          <a:p>
            <a:pPr algn="ctr"/>
            <a:r>
              <a:rPr sz="1150" b="1">
                <a:solidFill>
                  <a:srgbClr val="2962FF"/>
                </a:solidFill>
                <a:latin typeface="Aptos"/>
              </a:rPr>
              <a:t>1_create.ipynb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DC591B85-FCBB-ED3C-FE50-2E09B97BF42E}"/>
              </a:ext>
            </a:extLst>
          </p:cNvPr>
          <p:cNvSpPr txBox="1"/>
          <p:nvPr/>
        </p:nvSpPr>
        <p:spPr>
          <a:xfrm>
            <a:off x="2782519" y="1115567"/>
            <a:ext cx="899406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465470"/>
                </a:solidFill>
                <a:latin typeface="Aptos"/>
              </a:rPr>
              <a:t>Objectif : importer les tweets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bruts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 dans MongoDB et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comprendre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 la structure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initiale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 du dataset.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C112F037-AD95-DFF3-F3DE-0071A404608A}"/>
              </a:ext>
            </a:extLst>
          </p:cNvPr>
          <p:cNvSpPr txBox="1"/>
          <p:nvPr/>
        </p:nvSpPr>
        <p:spPr>
          <a:xfrm>
            <a:off x="713232" y="1691640"/>
            <a:ext cx="347472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dirty="0">
                <a:solidFill>
                  <a:srgbClr val="0A1A37"/>
                </a:solidFill>
                <a:latin typeface="Aptos"/>
              </a:rPr>
              <a:t>Étapes </a:t>
            </a:r>
            <a:r>
              <a:rPr sz="1650" b="1" i="0" dirty="0" err="1">
                <a:solidFill>
                  <a:srgbClr val="0A1A37"/>
                </a:solidFill>
                <a:latin typeface="Aptos"/>
              </a:rPr>
              <a:t>principales</a:t>
            </a:r>
            <a:endParaRPr sz="1650" b="1" i="0" dirty="0">
              <a:solidFill>
                <a:srgbClr val="0A1A37"/>
              </a:solidFill>
              <a:latin typeface="Aptos"/>
            </a:endParaRPr>
          </a:p>
        </p:txBody>
      </p:sp>
      <p:sp>
        <p:nvSpPr>
          <p:cNvPr id="19" name="Rounded Rectangle 10">
            <a:extLst>
              <a:ext uri="{FF2B5EF4-FFF2-40B4-BE49-F238E27FC236}">
                <a16:creationId xmlns:a16="http://schemas.microsoft.com/office/drawing/2014/main" id="{52A98CCB-265F-2E4E-D075-E36AC5C2B277}"/>
              </a:ext>
            </a:extLst>
          </p:cNvPr>
          <p:cNvSpPr/>
          <p:nvPr/>
        </p:nvSpPr>
        <p:spPr>
          <a:xfrm>
            <a:off x="731520" y="2203704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8DC90438-CFEA-7F78-4B47-2F1EB5CA47F8}"/>
              </a:ext>
            </a:extLst>
          </p:cNvPr>
          <p:cNvSpPr/>
          <p:nvPr/>
        </p:nvSpPr>
        <p:spPr>
          <a:xfrm>
            <a:off x="685800" y="2148840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12">
            <a:extLst>
              <a:ext uri="{FF2B5EF4-FFF2-40B4-BE49-F238E27FC236}">
                <a16:creationId xmlns:a16="http://schemas.microsoft.com/office/drawing/2014/main" id="{26EBD512-50E6-9D2D-4A9A-4745D275ACA1}"/>
              </a:ext>
            </a:extLst>
          </p:cNvPr>
          <p:cNvSpPr/>
          <p:nvPr/>
        </p:nvSpPr>
        <p:spPr>
          <a:xfrm>
            <a:off x="795528" y="2295144"/>
            <a:ext cx="329184" cy="329184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0A27FB40-F9F0-C9EA-7247-F48925DAAA2F}"/>
              </a:ext>
            </a:extLst>
          </p:cNvPr>
          <p:cNvSpPr txBox="1"/>
          <p:nvPr/>
        </p:nvSpPr>
        <p:spPr>
          <a:xfrm>
            <a:off x="1035658" y="2505116"/>
            <a:ext cx="2018438" cy="5078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 dirty="0" err="1">
                <a:solidFill>
                  <a:srgbClr val="0A1A37"/>
                </a:solidFill>
              </a:rPr>
              <a:t>Connexion</a:t>
            </a:r>
            <a:r>
              <a:rPr sz="1400" b="1" dirty="0">
                <a:solidFill>
                  <a:srgbClr val="0A1A37"/>
                </a:solidFill>
              </a:rPr>
              <a:t> à MongoDB</a:t>
            </a:r>
          </a:p>
          <a:p>
            <a:r>
              <a:rPr sz="1300" dirty="0">
                <a:solidFill>
                  <a:srgbClr val="465470"/>
                </a:solidFill>
              </a:rPr>
              <a:t>Base : </a:t>
            </a:r>
            <a:r>
              <a:rPr sz="1300" dirty="0" err="1">
                <a:solidFill>
                  <a:srgbClr val="465470"/>
                </a:solidFill>
              </a:rPr>
              <a:t>Tweet_Worldcup</a:t>
            </a:r>
            <a:endParaRPr sz="1300" dirty="0">
              <a:solidFill>
                <a:srgbClr val="465470"/>
              </a:solidFill>
            </a:endParaRPr>
          </a:p>
        </p:txBody>
      </p:sp>
      <p:cxnSp>
        <p:nvCxnSpPr>
          <p:cNvPr id="23" name="Connector 14">
            <a:extLst>
              <a:ext uri="{FF2B5EF4-FFF2-40B4-BE49-F238E27FC236}">
                <a16:creationId xmlns:a16="http://schemas.microsoft.com/office/drawing/2014/main" id="{7E846170-29ED-0892-76E8-4FDB4F5732E1}"/>
              </a:ext>
            </a:extLst>
          </p:cNvPr>
          <p:cNvCxnSpPr/>
          <p:nvPr/>
        </p:nvCxnSpPr>
        <p:spPr>
          <a:xfrm>
            <a:off x="3200400" y="2734056"/>
            <a:ext cx="292608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15">
            <a:extLst>
              <a:ext uri="{FF2B5EF4-FFF2-40B4-BE49-F238E27FC236}">
                <a16:creationId xmlns:a16="http://schemas.microsoft.com/office/drawing/2014/main" id="{F9BB6553-D004-9657-A14A-B8DF50CCFF3F}"/>
              </a:ext>
            </a:extLst>
          </p:cNvPr>
          <p:cNvSpPr/>
          <p:nvPr/>
        </p:nvSpPr>
        <p:spPr>
          <a:xfrm>
            <a:off x="3538727" y="2203704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16">
            <a:extLst>
              <a:ext uri="{FF2B5EF4-FFF2-40B4-BE49-F238E27FC236}">
                <a16:creationId xmlns:a16="http://schemas.microsoft.com/office/drawing/2014/main" id="{E2DA9896-37DA-D363-0039-CC2BFE0E1B2F}"/>
              </a:ext>
            </a:extLst>
          </p:cNvPr>
          <p:cNvSpPr/>
          <p:nvPr/>
        </p:nvSpPr>
        <p:spPr>
          <a:xfrm>
            <a:off x="3493008" y="2148840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17">
            <a:extLst>
              <a:ext uri="{FF2B5EF4-FFF2-40B4-BE49-F238E27FC236}">
                <a16:creationId xmlns:a16="http://schemas.microsoft.com/office/drawing/2014/main" id="{317A3445-67CE-66C7-F840-D96D1B5EA4DC}"/>
              </a:ext>
            </a:extLst>
          </p:cNvPr>
          <p:cNvSpPr/>
          <p:nvPr/>
        </p:nvSpPr>
        <p:spPr>
          <a:xfrm>
            <a:off x="3602736" y="2295144"/>
            <a:ext cx="329184" cy="329184"/>
          </a:xfrm>
          <a:prstGeom prst="ellipse">
            <a:avLst/>
          </a:prstGeom>
          <a:solidFill>
            <a:srgbClr val="00B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765C26D1-56CB-78B9-7309-3E74B8700615}"/>
              </a:ext>
            </a:extLst>
          </p:cNvPr>
          <p:cNvSpPr txBox="1"/>
          <p:nvPr/>
        </p:nvSpPr>
        <p:spPr>
          <a:xfrm>
            <a:off x="3918989" y="2485736"/>
            <a:ext cx="200952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dirty="0">
                <a:solidFill>
                  <a:srgbClr val="0A1A37"/>
                </a:solidFill>
              </a:rPr>
              <a:t>Importation JSON</a:t>
            </a:r>
          </a:p>
          <a:p>
            <a:r>
              <a:rPr sz="1300" dirty="0">
                <a:solidFill>
                  <a:srgbClr val="465470"/>
                </a:solidFill>
              </a:rPr>
              <a:t>Lecture des </a:t>
            </a:r>
            <a:r>
              <a:rPr sz="1300" dirty="0" err="1">
                <a:solidFill>
                  <a:srgbClr val="465470"/>
                </a:solidFill>
              </a:rPr>
              <a:t>fichiers</a:t>
            </a:r>
            <a:r>
              <a:rPr sz="1300" dirty="0">
                <a:solidFill>
                  <a:srgbClr val="465470"/>
                </a:solidFill>
              </a:rPr>
              <a:t> </a:t>
            </a:r>
            <a:r>
              <a:rPr sz="1300" dirty="0" err="1">
                <a:solidFill>
                  <a:srgbClr val="465470"/>
                </a:solidFill>
              </a:rPr>
              <a:t>bruts</a:t>
            </a:r>
            <a:endParaRPr sz="1300" dirty="0">
              <a:solidFill>
                <a:srgbClr val="465470"/>
              </a:solidFill>
            </a:endParaRPr>
          </a:p>
        </p:txBody>
      </p:sp>
      <p:cxnSp>
        <p:nvCxnSpPr>
          <p:cNvPr id="29" name="Connector 19">
            <a:extLst>
              <a:ext uri="{FF2B5EF4-FFF2-40B4-BE49-F238E27FC236}">
                <a16:creationId xmlns:a16="http://schemas.microsoft.com/office/drawing/2014/main" id="{04DC10F0-D20D-20BD-C7B7-FABDD95A1537}"/>
              </a:ext>
            </a:extLst>
          </p:cNvPr>
          <p:cNvCxnSpPr/>
          <p:nvPr/>
        </p:nvCxnSpPr>
        <p:spPr>
          <a:xfrm>
            <a:off x="6007608" y="2734056"/>
            <a:ext cx="292608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0">
            <a:extLst>
              <a:ext uri="{FF2B5EF4-FFF2-40B4-BE49-F238E27FC236}">
                <a16:creationId xmlns:a16="http://schemas.microsoft.com/office/drawing/2014/main" id="{B9B6C237-8AAF-B64A-386D-9EEBFA555648}"/>
              </a:ext>
            </a:extLst>
          </p:cNvPr>
          <p:cNvSpPr/>
          <p:nvPr/>
        </p:nvSpPr>
        <p:spPr>
          <a:xfrm>
            <a:off x="6345936" y="2203704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21">
            <a:extLst>
              <a:ext uri="{FF2B5EF4-FFF2-40B4-BE49-F238E27FC236}">
                <a16:creationId xmlns:a16="http://schemas.microsoft.com/office/drawing/2014/main" id="{A722B520-F3BD-084E-A9AD-2DDC2C8C53BD}"/>
              </a:ext>
            </a:extLst>
          </p:cNvPr>
          <p:cNvSpPr/>
          <p:nvPr/>
        </p:nvSpPr>
        <p:spPr>
          <a:xfrm>
            <a:off x="6300216" y="2148840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FCF6EE"/>
          </a:solidFill>
          <a:ln w="17145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22">
            <a:extLst>
              <a:ext uri="{FF2B5EF4-FFF2-40B4-BE49-F238E27FC236}">
                <a16:creationId xmlns:a16="http://schemas.microsoft.com/office/drawing/2014/main" id="{3CF8ADA7-3B5E-5975-DEC2-B4AB3B1DC48D}"/>
              </a:ext>
            </a:extLst>
          </p:cNvPr>
          <p:cNvSpPr/>
          <p:nvPr/>
        </p:nvSpPr>
        <p:spPr>
          <a:xfrm>
            <a:off x="6409944" y="2295144"/>
            <a:ext cx="329184" cy="329184"/>
          </a:xfrm>
          <a:prstGeom prst="ellipse">
            <a:avLst/>
          </a:prstGeom>
          <a:solidFill>
            <a:srgbClr val="F6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3" name="TextBox 23">
            <a:extLst>
              <a:ext uri="{FF2B5EF4-FFF2-40B4-BE49-F238E27FC236}">
                <a16:creationId xmlns:a16="http://schemas.microsoft.com/office/drawing/2014/main" id="{1298C093-2225-4D67-F792-B23EFC17197B}"/>
              </a:ext>
            </a:extLst>
          </p:cNvPr>
          <p:cNvSpPr txBox="1"/>
          <p:nvPr/>
        </p:nvSpPr>
        <p:spPr>
          <a:xfrm>
            <a:off x="6619439" y="2481405"/>
            <a:ext cx="2139881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dirty="0">
                <a:solidFill>
                  <a:srgbClr val="0A1A37"/>
                </a:solidFill>
              </a:rPr>
              <a:t>Collection </a:t>
            </a:r>
            <a:r>
              <a:rPr sz="1500" b="1" dirty="0" err="1">
                <a:solidFill>
                  <a:srgbClr val="0A1A37"/>
                </a:solidFill>
              </a:rPr>
              <a:t>tweets_raw</a:t>
            </a:r>
            <a:endParaRPr sz="1500" b="1" dirty="0">
              <a:solidFill>
                <a:srgbClr val="0A1A37"/>
              </a:solidFill>
            </a:endParaRPr>
          </a:p>
          <a:p>
            <a:r>
              <a:rPr sz="1300" dirty="0">
                <a:solidFill>
                  <a:srgbClr val="465470"/>
                </a:solidFill>
              </a:rPr>
              <a:t>Stockage des documents</a:t>
            </a:r>
          </a:p>
        </p:txBody>
      </p:sp>
      <p:cxnSp>
        <p:nvCxnSpPr>
          <p:cNvPr id="34" name="Connector 24">
            <a:extLst>
              <a:ext uri="{FF2B5EF4-FFF2-40B4-BE49-F238E27FC236}">
                <a16:creationId xmlns:a16="http://schemas.microsoft.com/office/drawing/2014/main" id="{77C224ED-305E-A376-747A-FCC4E9841A85}"/>
              </a:ext>
            </a:extLst>
          </p:cNvPr>
          <p:cNvCxnSpPr/>
          <p:nvPr/>
        </p:nvCxnSpPr>
        <p:spPr>
          <a:xfrm>
            <a:off x="8814816" y="2734056"/>
            <a:ext cx="292608" cy="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25">
            <a:extLst>
              <a:ext uri="{FF2B5EF4-FFF2-40B4-BE49-F238E27FC236}">
                <a16:creationId xmlns:a16="http://schemas.microsoft.com/office/drawing/2014/main" id="{58591571-4523-0DDB-21E4-56C4DDA3493B}"/>
              </a:ext>
            </a:extLst>
          </p:cNvPr>
          <p:cNvSpPr/>
          <p:nvPr/>
        </p:nvSpPr>
        <p:spPr>
          <a:xfrm>
            <a:off x="9153144" y="2203704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26">
            <a:extLst>
              <a:ext uri="{FF2B5EF4-FFF2-40B4-BE49-F238E27FC236}">
                <a16:creationId xmlns:a16="http://schemas.microsoft.com/office/drawing/2014/main" id="{5CC08C22-7F7F-3BF6-E64B-DFC313561F8D}"/>
              </a:ext>
            </a:extLst>
          </p:cNvPr>
          <p:cNvSpPr/>
          <p:nvPr/>
        </p:nvSpPr>
        <p:spPr>
          <a:xfrm>
            <a:off x="9107424" y="2148840"/>
            <a:ext cx="2514600" cy="1170432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27">
            <a:extLst>
              <a:ext uri="{FF2B5EF4-FFF2-40B4-BE49-F238E27FC236}">
                <a16:creationId xmlns:a16="http://schemas.microsoft.com/office/drawing/2014/main" id="{FDD49E8D-D360-8C11-4F73-147F2BE6F98E}"/>
              </a:ext>
            </a:extLst>
          </p:cNvPr>
          <p:cNvSpPr/>
          <p:nvPr/>
        </p:nvSpPr>
        <p:spPr>
          <a:xfrm>
            <a:off x="9217151" y="2295144"/>
            <a:ext cx="329184" cy="329184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8" name="TextBox 28">
            <a:extLst>
              <a:ext uri="{FF2B5EF4-FFF2-40B4-BE49-F238E27FC236}">
                <a16:creationId xmlns:a16="http://schemas.microsoft.com/office/drawing/2014/main" id="{00C086A1-319C-ED72-43DA-0097759150B4}"/>
              </a:ext>
            </a:extLst>
          </p:cNvPr>
          <p:cNvSpPr txBox="1"/>
          <p:nvPr/>
        </p:nvSpPr>
        <p:spPr>
          <a:xfrm>
            <a:off x="9610344" y="2486162"/>
            <a:ext cx="160582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dirty="0" err="1">
                <a:solidFill>
                  <a:srgbClr val="0A1A37"/>
                </a:solidFill>
              </a:rPr>
              <a:t>Vérification</a:t>
            </a:r>
            <a:endParaRPr sz="1500" b="1" dirty="0">
              <a:solidFill>
                <a:srgbClr val="0A1A37"/>
              </a:solidFill>
            </a:endParaRPr>
          </a:p>
          <a:p>
            <a:r>
              <a:rPr sz="1300" dirty="0">
                <a:solidFill>
                  <a:srgbClr val="465470"/>
                </a:solidFill>
              </a:rPr>
              <a:t>Volume et structure</a:t>
            </a:r>
          </a:p>
        </p:txBody>
      </p:sp>
      <p:sp>
        <p:nvSpPr>
          <p:cNvPr id="39" name="Rounded Rectangle 29">
            <a:extLst>
              <a:ext uri="{FF2B5EF4-FFF2-40B4-BE49-F238E27FC236}">
                <a16:creationId xmlns:a16="http://schemas.microsoft.com/office/drawing/2014/main" id="{1775FCC0-359C-5415-99F0-B6AE0C361952}"/>
              </a:ext>
            </a:extLst>
          </p:cNvPr>
          <p:cNvSpPr/>
          <p:nvPr/>
        </p:nvSpPr>
        <p:spPr>
          <a:xfrm>
            <a:off x="713232" y="3877056"/>
            <a:ext cx="5166360" cy="132588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0">
            <a:extLst>
              <a:ext uri="{FF2B5EF4-FFF2-40B4-BE49-F238E27FC236}">
                <a16:creationId xmlns:a16="http://schemas.microsoft.com/office/drawing/2014/main" id="{EF632953-7E38-1B5F-F048-8D3AF6DF4B51}"/>
              </a:ext>
            </a:extLst>
          </p:cNvPr>
          <p:cNvSpPr/>
          <p:nvPr/>
        </p:nvSpPr>
        <p:spPr>
          <a:xfrm>
            <a:off x="438913" y="3840480"/>
            <a:ext cx="5779008" cy="1325880"/>
          </a:xfrm>
          <a:prstGeom prst="roundRect">
            <a:avLst>
              <a:gd name="adj" fmla="val 7000"/>
            </a:avLst>
          </a:prstGeom>
          <a:solidFill>
            <a:srgbClr val="F8FAFD"/>
          </a:solidFill>
          <a:ln w="17145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3200" tIns="152400" rIns="152400" bIns="127000"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1A37"/>
                </a:solidFill>
              </a:defRPr>
            </a:pPr>
            <a:r>
              <a:rPr dirty="0" err="1"/>
              <a:t>Pourquoi</a:t>
            </a:r>
            <a:r>
              <a:rPr dirty="0"/>
              <a:t> MongoDB ?</a:t>
            </a:r>
          </a:p>
          <a:p>
            <a:pPr>
              <a:spcAft>
                <a:spcPts val="400"/>
              </a:spcAft>
              <a:defRPr sz="1050" b="0">
                <a:solidFill>
                  <a:srgbClr val="465470"/>
                </a:solidFill>
              </a:defRPr>
            </a:pPr>
            <a:r>
              <a:rPr sz="1200" dirty="0"/>
              <a:t>• Les tweets </a:t>
            </a:r>
            <a:r>
              <a:rPr sz="1200" dirty="0" err="1"/>
              <a:t>sont</a:t>
            </a:r>
            <a:r>
              <a:rPr sz="1200" dirty="0"/>
              <a:t> des documents semi-</a:t>
            </a:r>
            <a:r>
              <a:rPr sz="1200" dirty="0" err="1"/>
              <a:t>structurés</a:t>
            </a:r>
            <a:r>
              <a:rPr sz="1200" dirty="0"/>
              <a:t> avec des champs </a:t>
            </a:r>
            <a:r>
              <a:rPr sz="1200" dirty="0" err="1"/>
              <a:t>imbriqués</a:t>
            </a:r>
            <a:r>
              <a:rPr sz="1200" dirty="0"/>
              <a:t>.</a:t>
            </a:r>
          </a:p>
          <a:p>
            <a:pPr>
              <a:spcAft>
                <a:spcPts val="400"/>
              </a:spcAft>
              <a:defRPr sz="1050" b="0">
                <a:solidFill>
                  <a:srgbClr val="465470"/>
                </a:solidFill>
              </a:defRPr>
            </a:pPr>
            <a:r>
              <a:rPr sz="1200" dirty="0"/>
              <a:t>• MongoDB </a:t>
            </a:r>
            <a:r>
              <a:rPr sz="1200" dirty="0" err="1"/>
              <a:t>permet</a:t>
            </a:r>
            <a:r>
              <a:rPr sz="1200" dirty="0"/>
              <a:t> de conserver les documents </a:t>
            </a:r>
            <a:r>
              <a:rPr sz="1200" dirty="0" err="1"/>
              <a:t>bruts</a:t>
            </a:r>
            <a:r>
              <a:rPr sz="1200" dirty="0"/>
              <a:t> sans </a:t>
            </a:r>
            <a:r>
              <a:rPr sz="1200" dirty="0" err="1"/>
              <a:t>schéma</a:t>
            </a:r>
            <a:r>
              <a:rPr sz="1200" dirty="0"/>
              <a:t> </a:t>
            </a:r>
            <a:r>
              <a:rPr sz="1200" dirty="0" err="1"/>
              <a:t>rigide</a:t>
            </a:r>
            <a:r>
              <a:rPr sz="1200" dirty="0"/>
              <a:t>.</a:t>
            </a:r>
          </a:p>
          <a:p>
            <a:pPr>
              <a:spcAft>
                <a:spcPts val="400"/>
              </a:spcAft>
              <a:defRPr sz="1050" b="0">
                <a:solidFill>
                  <a:srgbClr val="465470"/>
                </a:solidFill>
              </a:defRPr>
            </a:pPr>
            <a:r>
              <a:rPr sz="1200" dirty="0"/>
              <a:t>• La collection </a:t>
            </a:r>
            <a:r>
              <a:rPr sz="1200" dirty="0" err="1"/>
              <a:t>tweets_raw</a:t>
            </a:r>
            <a:r>
              <a:rPr sz="1200" dirty="0"/>
              <a:t> </a:t>
            </a:r>
            <a:r>
              <a:rPr sz="1200" dirty="0" err="1"/>
              <a:t>sert</a:t>
            </a:r>
            <a:r>
              <a:rPr sz="1200" dirty="0"/>
              <a:t> de base pour </a:t>
            </a:r>
            <a:r>
              <a:rPr sz="1200" dirty="0" err="1"/>
              <a:t>l’extraction</a:t>
            </a:r>
            <a:r>
              <a:rPr sz="1200" dirty="0"/>
              <a:t> des features.</a:t>
            </a:r>
          </a:p>
        </p:txBody>
      </p:sp>
      <p:sp>
        <p:nvSpPr>
          <p:cNvPr id="41" name="TextBox 31">
            <a:extLst>
              <a:ext uri="{FF2B5EF4-FFF2-40B4-BE49-F238E27FC236}">
                <a16:creationId xmlns:a16="http://schemas.microsoft.com/office/drawing/2014/main" id="{4DEA0498-B379-03BF-EB4C-249A0DBF4E44}"/>
              </a:ext>
            </a:extLst>
          </p:cNvPr>
          <p:cNvSpPr txBox="1"/>
          <p:nvPr/>
        </p:nvSpPr>
        <p:spPr>
          <a:xfrm>
            <a:off x="6400800" y="3822191"/>
            <a:ext cx="338328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0A1A37"/>
                </a:solidFill>
                <a:latin typeface="Aptos"/>
              </a:rPr>
              <a:t>Vérifications réalisées</a:t>
            </a:r>
          </a:p>
        </p:txBody>
      </p:sp>
      <p:sp>
        <p:nvSpPr>
          <p:cNvPr id="42" name="Rounded Rectangle 32">
            <a:extLst>
              <a:ext uri="{FF2B5EF4-FFF2-40B4-BE49-F238E27FC236}">
                <a16:creationId xmlns:a16="http://schemas.microsoft.com/office/drawing/2014/main" id="{E3732EF7-7624-8347-E5AE-B12FC64D9606}"/>
              </a:ext>
            </a:extLst>
          </p:cNvPr>
          <p:cNvSpPr/>
          <p:nvPr/>
        </p:nvSpPr>
        <p:spPr>
          <a:xfrm>
            <a:off x="6492240" y="4306824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33">
            <a:extLst>
              <a:ext uri="{FF2B5EF4-FFF2-40B4-BE49-F238E27FC236}">
                <a16:creationId xmlns:a16="http://schemas.microsoft.com/office/drawing/2014/main" id="{B969EF71-531F-4351-8A32-FF87D9E4D95C}"/>
              </a:ext>
            </a:extLst>
          </p:cNvPr>
          <p:cNvSpPr/>
          <p:nvPr/>
        </p:nvSpPr>
        <p:spPr>
          <a:xfrm>
            <a:off x="6446520" y="4251960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76200" rtlCol="0" anchor="ctr"/>
          <a:lstStyle/>
          <a:p>
            <a:pPr algn="ctr"/>
            <a:r>
              <a:rPr sz="2000" b="1" dirty="0">
                <a:solidFill>
                  <a:srgbClr val="2962FF"/>
                </a:solidFill>
                <a:latin typeface="Aptos"/>
              </a:rPr>
              <a:t>4 569 999</a:t>
            </a:r>
          </a:p>
          <a:p>
            <a:pPr algn="ctr"/>
            <a:r>
              <a:rPr sz="1200" dirty="0">
                <a:solidFill>
                  <a:srgbClr val="465470"/>
                </a:solidFill>
                <a:latin typeface="Aptos"/>
              </a:rPr>
              <a:t>tweets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bruts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importés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44" name="Rounded Rectangle 34">
            <a:extLst>
              <a:ext uri="{FF2B5EF4-FFF2-40B4-BE49-F238E27FC236}">
                <a16:creationId xmlns:a16="http://schemas.microsoft.com/office/drawing/2014/main" id="{EA678EC7-5A81-C67F-95E0-62833931636A}"/>
              </a:ext>
            </a:extLst>
          </p:cNvPr>
          <p:cNvSpPr/>
          <p:nvPr/>
        </p:nvSpPr>
        <p:spPr>
          <a:xfrm>
            <a:off x="8961120" y="4306824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35">
            <a:extLst>
              <a:ext uri="{FF2B5EF4-FFF2-40B4-BE49-F238E27FC236}">
                <a16:creationId xmlns:a16="http://schemas.microsoft.com/office/drawing/2014/main" id="{F1A1DA4B-8912-62B9-4BE3-341F472A5E47}"/>
              </a:ext>
            </a:extLst>
          </p:cNvPr>
          <p:cNvSpPr/>
          <p:nvPr/>
        </p:nvSpPr>
        <p:spPr>
          <a:xfrm>
            <a:off x="8915400" y="4251960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Ins="127000" bIns="76200" rtlCol="0" anchor="ctr"/>
          <a:lstStyle/>
          <a:p>
            <a:pPr algn="ctr"/>
            <a:r>
              <a:rPr sz="2000" b="1" dirty="0">
                <a:solidFill>
                  <a:srgbClr val="00B578"/>
                </a:solidFill>
                <a:latin typeface="Aptos"/>
              </a:rPr>
              <a:t>1 843 439</a:t>
            </a:r>
          </a:p>
          <a:p>
            <a:pPr algn="ctr"/>
            <a:r>
              <a:rPr sz="1200" dirty="0" err="1">
                <a:solidFill>
                  <a:srgbClr val="465470"/>
                </a:solidFill>
                <a:latin typeface="Aptos"/>
              </a:rPr>
              <a:t>utilisateurs</a:t>
            </a:r>
            <a:r>
              <a:rPr sz="1200" dirty="0">
                <a:solidFill>
                  <a:srgbClr val="465470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465470"/>
                </a:solidFill>
                <a:latin typeface="Aptos"/>
              </a:rPr>
              <a:t>uniques</a:t>
            </a:r>
            <a:endParaRPr sz="1200" dirty="0">
              <a:solidFill>
                <a:srgbClr val="465470"/>
              </a:solidFill>
              <a:latin typeface="Aptos"/>
            </a:endParaRPr>
          </a:p>
        </p:txBody>
      </p:sp>
      <p:sp>
        <p:nvSpPr>
          <p:cNvPr id="46" name="Rounded Rectangle 36">
            <a:extLst>
              <a:ext uri="{FF2B5EF4-FFF2-40B4-BE49-F238E27FC236}">
                <a16:creationId xmlns:a16="http://schemas.microsoft.com/office/drawing/2014/main" id="{F0912316-E8B5-82F8-54B3-E576F671549E}"/>
              </a:ext>
            </a:extLst>
          </p:cNvPr>
          <p:cNvSpPr/>
          <p:nvPr/>
        </p:nvSpPr>
        <p:spPr>
          <a:xfrm>
            <a:off x="1005840" y="5806440"/>
            <a:ext cx="10058400" cy="5029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 err="1">
                <a:solidFill>
                  <a:srgbClr val="0A1A37"/>
                </a:solidFill>
                <a:latin typeface="Aptos"/>
              </a:rPr>
              <a:t>Résultat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: les données brutes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sont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centralisées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et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prêtes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pour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l’extraction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des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altLang="zh-CN" sz="2800" b="1" dirty="0">
                <a:solidFill>
                  <a:srgbClr val="0A1A37"/>
                </a:solidFill>
              </a:rPr>
              <a:t>Extraction des features et passage au niveau utilisateur</a:t>
            </a:r>
          </a:p>
        </p:txBody>
      </p:sp>
      <p:sp>
        <p:nvSpPr>
          <p:cNvPr id="8" name="Shape 6"/>
          <p:cNvSpPr/>
          <p:nvPr/>
        </p:nvSpPr>
        <p:spPr>
          <a:xfrm>
            <a:off x="1234440" y="939426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B6FB7C41-42B5-7F54-9D07-BA8F497AF4E5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FFA4270-7F1B-47E2-22F1-7845A46A6A79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056B055C-5A96-C03B-6F11-6FFF8F3E8CDE}"/>
              </a:ext>
            </a:extLst>
          </p:cNvPr>
          <p:cNvSpPr/>
          <p:nvPr/>
        </p:nvSpPr>
        <p:spPr>
          <a:xfrm>
            <a:off x="1106424" y="1115568"/>
            <a:ext cx="1965960" cy="38404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47FD03BF-1F61-1931-BFE1-8398A3D850B6}"/>
              </a:ext>
            </a:extLst>
          </p:cNvPr>
          <p:cNvSpPr/>
          <p:nvPr/>
        </p:nvSpPr>
        <p:spPr>
          <a:xfrm>
            <a:off x="1078992" y="1078992"/>
            <a:ext cx="1965960" cy="384048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 dirty="0">
                <a:solidFill>
                  <a:srgbClr val="2962FF"/>
                </a:solidFill>
                <a:latin typeface="Aptos"/>
              </a:rPr>
              <a:t>2_feature_extraction.ipynb</a:t>
            </a:r>
          </a:p>
        </p:txBody>
      </p:sp>
      <p:sp>
        <p:nvSpPr>
          <p:cNvPr id="19" name="Rounded Rectangle 8">
            <a:extLst>
              <a:ext uri="{FF2B5EF4-FFF2-40B4-BE49-F238E27FC236}">
                <a16:creationId xmlns:a16="http://schemas.microsoft.com/office/drawing/2014/main" id="{D3801BFB-8FDA-7285-B41E-72846306E67D}"/>
              </a:ext>
            </a:extLst>
          </p:cNvPr>
          <p:cNvSpPr/>
          <p:nvPr/>
        </p:nvSpPr>
        <p:spPr>
          <a:xfrm>
            <a:off x="3209544" y="1115568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9">
            <a:extLst>
              <a:ext uri="{FF2B5EF4-FFF2-40B4-BE49-F238E27FC236}">
                <a16:creationId xmlns:a16="http://schemas.microsoft.com/office/drawing/2014/main" id="{DF438E6C-2720-A18D-CD4F-00D367D3B57A}"/>
              </a:ext>
            </a:extLst>
          </p:cNvPr>
          <p:cNvSpPr/>
          <p:nvPr/>
        </p:nvSpPr>
        <p:spPr>
          <a:xfrm>
            <a:off x="3182112" y="1078992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00B578"/>
                </a:solidFill>
                <a:latin typeface="Aptos"/>
              </a:rPr>
              <a:t>3_features_calc.ipynb</a:t>
            </a:r>
          </a:p>
        </p:txBody>
      </p:sp>
      <p:sp>
        <p:nvSpPr>
          <p:cNvPr id="21" name="TextBox 10">
            <a:extLst>
              <a:ext uri="{FF2B5EF4-FFF2-40B4-BE49-F238E27FC236}">
                <a16:creationId xmlns:a16="http://schemas.microsoft.com/office/drawing/2014/main" id="{AA3C3F28-4A05-6624-C4D8-ECFAF18E1F22}"/>
              </a:ext>
            </a:extLst>
          </p:cNvPr>
          <p:cNvSpPr txBox="1"/>
          <p:nvPr/>
        </p:nvSpPr>
        <p:spPr>
          <a:xfrm>
            <a:off x="5166360" y="1097280"/>
            <a:ext cx="5019964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465470"/>
                </a:solidFill>
                <a:latin typeface="Aptos"/>
              </a:rPr>
              <a:t>Objectif : passer du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niveau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 tweet au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niveau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 </a:t>
            </a:r>
            <a:r>
              <a:rPr sz="1600" b="1" i="0" dirty="0" err="1">
                <a:solidFill>
                  <a:srgbClr val="465470"/>
                </a:solidFill>
                <a:latin typeface="Aptos"/>
              </a:rPr>
              <a:t>utilisateur</a:t>
            </a:r>
            <a:r>
              <a:rPr sz="1600" b="1" i="0" dirty="0">
                <a:solidFill>
                  <a:srgbClr val="465470"/>
                </a:solidFill>
                <a:latin typeface="Aptos"/>
              </a:rPr>
              <a:t>.</a:t>
            </a:r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1543CAE4-84B1-4C79-B1C2-8304D1D99663}"/>
              </a:ext>
            </a:extLst>
          </p:cNvPr>
          <p:cNvSpPr/>
          <p:nvPr/>
        </p:nvSpPr>
        <p:spPr>
          <a:xfrm>
            <a:off x="768096" y="1874519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E070B4DB-4F25-1139-90D0-58E56F534AA3}"/>
              </a:ext>
            </a:extLst>
          </p:cNvPr>
          <p:cNvSpPr/>
          <p:nvPr/>
        </p:nvSpPr>
        <p:spPr>
          <a:xfrm>
            <a:off x="731520" y="182880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77800" tIns="152400" rIns="152400" bIns="127000" rtlCol="0" anchor="ctr"/>
          <a:lstStyle/>
          <a:p>
            <a:pPr algn="ctr">
              <a:spcAft>
                <a:spcPts val="300"/>
              </a:spcAft>
              <a:defRPr sz="1600" b="1">
                <a:solidFill>
                  <a:srgbClr val="2962FF"/>
                </a:solidFill>
              </a:defRPr>
            </a:pPr>
            <a:r>
              <a:rPr sz="2000" dirty="0"/>
              <a:t>Extraction des features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zh-CN" altLang="zh-CN" sz="1500" b="1" dirty="0"/>
              <a:t>3 familles de variables :</a:t>
            </a:r>
            <a:br>
              <a:rPr lang="zh-CN" altLang="zh-CN" sz="1500" dirty="0"/>
            </a:br>
            <a:r>
              <a:rPr lang="zh-CN" altLang="zh-CN" sz="1500" dirty="0"/>
              <a:t>• sociales</a:t>
            </a:r>
            <a:br>
              <a:rPr lang="zh-CN" altLang="zh-CN" sz="1500" dirty="0"/>
            </a:br>
            <a:r>
              <a:rPr lang="zh-CN" altLang="zh-CN" sz="1500" dirty="0"/>
              <a:t>• interaction</a:t>
            </a:r>
            <a:br>
              <a:rPr lang="zh-CN" altLang="zh-CN" sz="1500" dirty="0"/>
            </a:br>
            <a:r>
              <a:rPr lang="zh-CN" altLang="zh-CN" sz="1500" dirty="0"/>
              <a:t>• contenu</a:t>
            </a:r>
            <a:br>
              <a:rPr lang="zh-CN" altLang="zh-CN" sz="1500" dirty="0"/>
            </a:br>
            <a:br>
              <a:rPr lang="zh-CN" altLang="zh-CN" sz="1500" dirty="0"/>
            </a:br>
            <a:r>
              <a:rPr lang="zh-CN" altLang="zh-CN" sz="1500" b="1" dirty="0"/>
              <a:t>Exemples :</a:t>
            </a:r>
            <a:br>
              <a:rPr lang="zh-CN" altLang="zh-CN" sz="1500" dirty="0"/>
            </a:br>
            <a:r>
              <a:rPr lang="zh-CN" altLang="zh-CN" sz="1500" dirty="0"/>
              <a:t>followers, retweets, hashtags, URLs, tweet_length</a:t>
            </a:r>
            <a:endParaRPr sz="1500" dirty="0"/>
          </a:p>
        </p:txBody>
      </p:sp>
      <p:sp>
        <p:nvSpPr>
          <p:cNvPr id="24" name="Rounded Rectangle 13">
            <a:extLst>
              <a:ext uri="{FF2B5EF4-FFF2-40B4-BE49-F238E27FC236}">
                <a16:creationId xmlns:a16="http://schemas.microsoft.com/office/drawing/2014/main" id="{E7CC2653-65DE-D798-30D0-6733DEA5A696}"/>
              </a:ext>
            </a:extLst>
          </p:cNvPr>
          <p:cNvSpPr/>
          <p:nvPr/>
        </p:nvSpPr>
        <p:spPr>
          <a:xfrm>
            <a:off x="4350175" y="1728215"/>
            <a:ext cx="2372396" cy="82296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14">
            <a:extLst>
              <a:ext uri="{FF2B5EF4-FFF2-40B4-BE49-F238E27FC236}">
                <a16:creationId xmlns:a16="http://schemas.microsoft.com/office/drawing/2014/main" id="{E9178412-34C8-E410-AA41-82BE8DD0C25B}"/>
              </a:ext>
            </a:extLst>
          </p:cNvPr>
          <p:cNvSpPr/>
          <p:nvPr/>
        </p:nvSpPr>
        <p:spPr>
          <a:xfrm>
            <a:off x="4160520" y="1682495"/>
            <a:ext cx="2788921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tx1"/>
                </a:solidFill>
              </a:rPr>
              <a:t>Tweet-level dataset</a:t>
            </a:r>
            <a:br>
              <a:rPr lang="zh-CN" altLang="zh-CN" b="1" dirty="0">
                <a:solidFill>
                  <a:schemeClr val="tx1"/>
                </a:solidFill>
              </a:rPr>
            </a:br>
            <a:r>
              <a:rPr lang="zh-CN" altLang="zh-CN" b="1" dirty="0">
                <a:solidFill>
                  <a:schemeClr val="tx1"/>
                </a:solidFill>
              </a:rPr>
              <a:t>4,57 M tweets</a:t>
            </a:r>
            <a:endParaRPr b="1" dirty="0">
              <a:solidFill>
                <a:schemeClr val="tx1"/>
              </a:solidFill>
              <a:latin typeface="Aptos"/>
            </a:endParaRPr>
          </a:p>
        </p:txBody>
      </p:sp>
      <p:sp>
        <p:nvSpPr>
          <p:cNvPr id="27" name="Rounded Rectangle 15">
            <a:extLst>
              <a:ext uri="{FF2B5EF4-FFF2-40B4-BE49-F238E27FC236}">
                <a16:creationId xmlns:a16="http://schemas.microsoft.com/office/drawing/2014/main" id="{AD34B444-6E3E-F457-F4AB-C018C9EF35D2}"/>
              </a:ext>
            </a:extLst>
          </p:cNvPr>
          <p:cNvSpPr/>
          <p:nvPr/>
        </p:nvSpPr>
        <p:spPr>
          <a:xfrm>
            <a:off x="4350175" y="3008375"/>
            <a:ext cx="2372396" cy="658368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514DCCAC-D6C4-E122-BD1D-D1FA2617ABF6}"/>
              </a:ext>
            </a:extLst>
          </p:cNvPr>
          <p:cNvSpPr/>
          <p:nvPr/>
        </p:nvSpPr>
        <p:spPr>
          <a:xfrm>
            <a:off x="4313599" y="2962655"/>
            <a:ext cx="2372396" cy="658368"/>
          </a:xfrm>
          <a:prstGeom prst="roundRect">
            <a:avLst>
              <a:gd name="adj" fmla="val 8000"/>
            </a:avLst>
          </a:prstGeom>
          <a:solidFill>
            <a:srgbClr val="F8FAFD"/>
          </a:solidFill>
          <a:ln w="17145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tx1"/>
                </a:solidFill>
              </a:rPr>
              <a:t>groupby(user_id)</a:t>
            </a:r>
            <a:endParaRPr b="1" dirty="0">
              <a:solidFill>
                <a:schemeClr val="tx1"/>
              </a:solidFill>
              <a:latin typeface="Aptos"/>
            </a:endParaRPr>
          </a:p>
        </p:txBody>
      </p:sp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C0E0EB7F-AB31-C7BA-9AF2-3272E5F9C205}"/>
              </a:ext>
            </a:extLst>
          </p:cNvPr>
          <p:cNvSpPr/>
          <p:nvPr/>
        </p:nvSpPr>
        <p:spPr>
          <a:xfrm>
            <a:off x="4350175" y="4014214"/>
            <a:ext cx="2372396" cy="82296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80A23D8D-95CF-43DE-A6F3-A73ED7B47C09}"/>
              </a:ext>
            </a:extLst>
          </p:cNvPr>
          <p:cNvSpPr/>
          <p:nvPr/>
        </p:nvSpPr>
        <p:spPr>
          <a:xfrm>
            <a:off x="4313599" y="3968495"/>
            <a:ext cx="2372396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tx1"/>
                </a:solidFill>
              </a:rPr>
              <a:t>User-level dataset</a:t>
            </a:r>
            <a:br>
              <a:rPr lang="zh-CN" altLang="zh-CN" b="1" dirty="0">
                <a:solidFill>
                  <a:schemeClr val="tx1"/>
                </a:solidFill>
              </a:rPr>
            </a:br>
            <a:r>
              <a:rPr lang="zh-CN" altLang="zh-CN" b="1" dirty="0">
                <a:solidFill>
                  <a:schemeClr val="tx1"/>
                </a:solidFill>
              </a:rPr>
              <a:t>1,84 M profils</a:t>
            </a:r>
            <a:endParaRPr b="1" dirty="0">
              <a:solidFill>
                <a:schemeClr val="tx1"/>
              </a:solidFill>
              <a:latin typeface="Aptos"/>
            </a:endParaRPr>
          </a:p>
        </p:txBody>
      </p:sp>
      <p:cxnSp>
        <p:nvCxnSpPr>
          <p:cNvPr id="31" name="Connector 19">
            <a:extLst>
              <a:ext uri="{FF2B5EF4-FFF2-40B4-BE49-F238E27FC236}">
                <a16:creationId xmlns:a16="http://schemas.microsoft.com/office/drawing/2014/main" id="{B18E6C73-EB46-453A-16A2-AE8BB6EBD018}"/>
              </a:ext>
            </a:extLst>
          </p:cNvPr>
          <p:cNvCxnSpPr>
            <a:cxnSpLocks/>
          </p:cNvCxnSpPr>
          <p:nvPr/>
        </p:nvCxnSpPr>
        <p:spPr>
          <a:xfrm>
            <a:off x="5646420" y="2505455"/>
            <a:ext cx="0" cy="457200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20">
            <a:extLst>
              <a:ext uri="{FF2B5EF4-FFF2-40B4-BE49-F238E27FC236}">
                <a16:creationId xmlns:a16="http://schemas.microsoft.com/office/drawing/2014/main" id="{262339A2-B400-D2E0-ED3F-E7EC22651744}"/>
              </a:ext>
            </a:extLst>
          </p:cNvPr>
          <p:cNvCxnSpPr>
            <a:cxnSpLocks/>
          </p:cNvCxnSpPr>
          <p:nvPr/>
        </p:nvCxnSpPr>
        <p:spPr>
          <a:xfrm>
            <a:off x="5646420" y="3621023"/>
            <a:ext cx="0" cy="347472"/>
          </a:xfrm>
          <a:prstGeom prst="line">
            <a:avLst/>
          </a:prstGeom>
          <a:ln w="20320">
            <a:solidFill>
              <a:srgbClr val="FF68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6587885A-E4CC-6612-470A-29829F664321}"/>
              </a:ext>
            </a:extLst>
          </p:cNvPr>
          <p:cNvSpPr/>
          <p:nvPr/>
        </p:nvSpPr>
        <p:spPr>
          <a:xfrm>
            <a:off x="7188560" y="1874519"/>
            <a:ext cx="4526280" cy="2926080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22">
            <a:extLst>
              <a:ext uri="{FF2B5EF4-FFF2-40B4-BE49-F238E27FC236}">
                <a16:creationId xmlns:a16="http://schemas.microsoft.com/office/drawing/2014/main" id="{49A8A663-CB47-D3FE-35E3-1B09C3D99CB0}"/>
              </a:ext>
            </a:extLst>
          </p:cNvPr>
          <p:cNvSpPr/>
          <p:nvPr/>
        </p:nvSpPr>
        <p:spPr>
          <a:xfrm>
            <a:off x="7151984" y="1828800"/>
            <a:ext cx="4526280" cy="2926080"/>
          </a:xfrm>
          <a:prstGeom prst="roundRect">
            <a:avLst>
              <a:gd name="adj" fmla="val 8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77800" tIns="152400" rIns="152400" bIns="127000" rtlCol="0" anchor="ctr"/>
          <a:lstStyle/>
          <a:p>
            <a:pPr algn="ctr">
              <a:spcAft>
                <a:spcPts val="300"/>
              </a:spcAft>
              <a:defRPr sz="1600" b="1">
                <a:solidFill>
                  <a:srgbClr val="00B578"/>
                </a:solidFill>
              </a:defRPr>
            </a:pPr>
            <a:r>
              <a:rPr sz="2000" dirty="0"/>
              <a:t>Agrégation par </a:t>
            </a:r>
            <a:r>
              <a:rPr sz="2000" dirty="0" err="1"/>
              <a:t>utilisateur</a:t>
            </a:r>
            <a:endParaRPr sz="2000" dirty="0"/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b="1" dirty="0"/>
              <a:t>Principe :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dirty="0"/>
              <a:t>• au départ : 1 ligne = 1 tweet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dirty="0"/>
              <a:t>• après groupby(user_id)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dirty="0"/>
              <a:t>• à la fin : 1 ligne = 1 utilisateur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endParaRPr lang="fr-FR" sz="1500" dirty="0"/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b="1" dirty="0"/>
              <a:t>Résultat :</a:t>
            </a:r>
          </a:p>
          <a:p>
            <a:pPr>
              <a:spcAft>
                <a:spcPts val="300"/>
              </a:spcAft>
              <a:defRPr sz="1050" b="0">
                <a:solidFill>
                  <a:srgbClr val="465470"/>
                </a:solidFill>
              </a:defRPr>
            </a:pPr>
            <a:r>
              <a:rPr lang="fr-FR" sz="1500" dirty="0"/>
              <a:t>dataset utilisateur prêt pour les modèles</a:t>
            </a:r>
            <a:endParaRPr sz="1500" dirty="0"/>
          </a:p>
        </p:txBody>
      </p:sp>
      <p:sp>
        <p:nvSpPr>
          <p:cNvPr id="35" name="Rounded Rectangle 29">
            <a:extLst>
              <a:ext uri="{FF2B5EF4-FFF2-40B4-BE49-F238E27FC236}">
                <a16:creationId xmlns:a16="http://schemas.microsoft.com/office/drawing/2014/main" id="{67961A9E-CD3E-5EEF-AA91-305B6D410E5A}"/>
              </a:ext>
            </a:extLst>
          </p:cNvPr>
          <p:cNvSpPr/>
          <p:nvPr/>
        </p:nvSpPr>
        <p:spPr>
          <a:xfrm>
            <a:off x="928116" y="5326380"/>
            <a:ext cx="10104120" cy="411480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700" b="1" dirty="0">
                <a:solidFill>
                  <a:srgbClr val="0A1A37"/>
                </a:solidFill>
              </a:rPr>
              <a:t>Idée clé : les modèles ne classent pas des tweets, mais des profils utilisateurs.</a:t>
            </a:r>
            <a:endParaRPr sz="1700" b="1" dirty="0">
              <a:solidFill>
                <a:srgbClr val="0A1A3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altLang="zh-CN" sz="2800" b="1" dirty="0">
                <a:solidFill>
                  <a:srgbClr val="0A1A37"/>
                </a:solidFill>
              </a:rPr>
              <a:t>Construction de nouveaux indicateurs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57C7204D-98A6-F07C-71C2-1D5AFAE3DE4A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7FE99CCB-BA68-B288-2F60-5D3C6252AC4A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6" name="Connector 5">
            <a:extLst>
              <a:ext uri="{FF2B5EF4-FFF2-40B4-BE49-F238E27FC236}">
                <a16:creationId xmlns:a16="http://schemas.microsoft.com/office/drawing/2014/main" id="{5486A2FB-B279-F923-16E5-295DCF68A3F1}"/>
              </a:ext>
            </a:extLst>
          </p:cNvPr>
          <p:cNvCxnSpPr/>
          <p:nvPr/>
        </p:nvCxnSpPr>
        <p:spPr>
          <a:xfrm>
            <a:off x="1078992" y="896112"/>
            <a:ext cx="9802368" cy="0"/>
          </a:xfrm>
          <a:prstGeom prst="line">
            <a:avLst/>
          </a:prstGeom>
          <a:ln w="1270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02C888FE-5076-585B-98B3-D59E8EB83274}"/>
              </a:ext>
            </a:extLst>
          </p:cNvPr>
          <p:cNvSpPr/>
          <p:nvPr/>
        </p:nvSpPr>
        <p:spPr>
          <a:xfrm>
            <a:off x="685800" y="1115568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51B9A1FA-49CB-7E87-A9E0-5D3ED5AA6014}"/>
              </a:ext>
            </a:extLst>
          </p:cNvPr>
          <p:cNvSpPr/>
          <p:nvPr/>
        </p:nvSpPr>
        <p:spPr>
          <a:xfrm>
            <a:off x="658368" y="1078992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00B578"/>
                </a:solidFill>
                <a:latin typeface="Aptos"/>
              </a:rPr>
              <a:t>3_features_calc.ipynb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0F51BA9B-8F26-C0D5-FF28-6AAFB3AAC71B}"/>
              </a:ext>
            </a:extLst>
          </p:cNvPr>
          <p:cNvSpPr txBox="1"/>
          <p:nvPr/>
        </p:nvSpPr>
        <p:spPr>
          <a:xfrm>
            <a:off x="2664334" y="1167020"/>
            <a:ext cx="665637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465470"/>
                </a:solidFill>
                <a:latin typeface="Aptos"/>
              </a:rPr>
              <a:t>Objectif :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enrichir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le dataset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utilisateur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avec trois variables plus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explicatives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.</a:t>
            </a:r>
          </a:p>
        </p:txBody>
      </p:sp>
      <p:sp>
        <p:nvSpPr>
          <p:cNvPr id="20" name="Rounded Rectangle 9">
            <a:extLst>
              <a:ext uri="{FF2B5EF4-FFF2-40B4-BE49-F238E27FC236}">
                <a16:creationId xmlns:a16="http://schemas.microsoft.com/office/drawing/2014/main" id="{EA0DADD3-D0A1-10B4-E057-AAD26BDB816F}"/>
              </a:ext>
            </a:extLst>
          </p:cNvPr>
          <p:cNvSpPr/>
          <p:nvPr/>
        </p:nvSpPr>
        <p:spPr>
          <a:xfrm>
            <a:off x="685800" y="1700784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10">
            <a:extLst>
              <a:ext uri="{FF2B5EF4-FFF2-40B4-BE49-F238E27FC236}">
                <a16:creationId xmlns:a16="http://schemas.microsoft.com/office/drawing/2014/main" id="{EB2B2696-FA25-7599-9DB0-DB09CF9560A9}"/>
              </a:ext>
            </a:extLst>
          </p:cNvPr>
          <p:cNvSpPr/>
          <p:nvPr/>
        </p:nvSpPr>
        <p:spPr>
          <a:xfrm>
            <a:off x="658368" y="1664208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7145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0A1A37"/>
                </a:solidFill>
                <a:latin typeface="Aptos"/>
              </a:rPr>
              <a:t>Après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l’agrégation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,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ces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indicateurs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résument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le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comportement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 global d’un </a:t>
            </a:r>
            <a:r>
              <a:rPr sz="1600" b="1" dirty="0" err="1">
                <a:solidFill>
                  <a:srgbClr val="0A1A37"/>
                </a:solidFill>
                <a:latin typeface="Aptos"/>
              </a:rPr>
              <a:t>profil</a:t>
            </a:r>
            <a:r>
              <a:rPr sz="1600" b="1" dirty="0">
                <a:solidFill>
                  <a:srgbClr val="0A1A37"/>
                </a:solidFill>
                <a:latin typeface="Aptos"/>
              </a:rPr>
              <a:t>.</a:t>
            </a:r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C98F22CD-40AA-E70B-01F6-E3C9CF480D2F}"/>
              </a:ext>
            </a:extLst>
          </p:cNvPr>
          <p:cNvSpPr/>
          <p:nvPr/>
        </p:nvSpPr>
        <p:spPr>
          <a:xfrm>
            <a:off x="694944" y="2624327"/>
            <a:ext cx="3337560" cy="1874519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32992E41-45C5-7FA5-E8EA-720BEB05F8E8}"/>
              </a:ext>
            </a:extLst>
          </p:cNvPr>
          <p:cNvSpPr/>
          <p:nvPr/>
        </p:nvSpPr>
        <p:spPr>
          <a:xfrm>
            <a:off x="658368" y="2478024"/>
            <a:ext cx="3337560" cy="1975103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190500" rIns="190500" bIns="152400" rtlCol="0" anchor="ctr"/>
          <a:lstStyle/>
          <a:p>
            <a:pPr algn="ctr"/>
            <a:r>
              <a:rPr sz="2000" b="1" dirty="0" err="1">
                <a:solidFill>
                  <a:srgbClr val="2962FF"/>
                </a:solidFill>
                <a:latin typeface="Aptos"/>
              </a:rPr>
              <a:t>followers_friends_ratio</a:t>
            </a:r>
            <a:endParaRPr sz="2000" b="1" dirty="0">
              <a:solidFill>
                <a:srgbClr val="2962FF"/>
              </a:solidFill>
              <a:latin typeface="Aptos"/>
            </a:endParaRPr>
          </a:p>
          <a:p>
            <a:pPr algn="ctr">
              <a:spcBef>
                <a:spcPts val="800"/>
              </a:spcBef>
              <a:spcAft>
                <a:spcPts val="1000"/>
              </a:spcAft>
              <a:defRPr sz="1120">
                <a:solidFill>
                  <a:srgbClr val="465470"/>
                </a:solidFill>
              </a:defRPr>
            </a:pPr>
            <a:r>
              <a:rPr sz="1400" dirty="0" err="1"/>
              <a:t>Mesure</a:t>
            </a:r>
            <a:r>
              <a:rPr sz="1400" dirty="0"/>
              <a:t> le </a:t>
            </a:r>
            <a:r>
              <a:rPr sz="1400" dirty="0" err="1"/>
              <a:t>déséquilibre</a:t>
            </a:r>
            <a:r>
              <a:rPr sz="1400" dirty="0"/>
              <a:t> entre followers et </a:t>
            </a:r>
            <a:r>
              <a:rPr sz="1400" dirty="0" err="1"/>
              <a:t>comptes</a:t>
            </a:r>
            <a:r>
              <a:rPr sz="1400" dirty="0"/>
              <a:t> </a:t>
            </a:r>
            <a:r>
              <a:rPr sz="1400" dirty="0" err="1"/>
              <a:t>suivis</a:t>
            </a:r>
            <a:r>
              <a:rPr sz="1400" dirty="0"/>
              <a:t>.</a:t>
            </a:r>
          </a:p>
        </p:txBody>
      </p:sp>
      <p:sp>
        <p:nvSpPr>
          <p:cNvPr id="24" name="Rounded Rectangle 13">
            <a:extLst>
              <a:ext uri="{FF2B5EF4-FFF2-40B4-BE49-F238E27FC236}">
                <a16:creationId xmlns:a16="http://schemas.microsoft.com/office/drawing/2014/main" id="{4D96A483-DD94-2212-AEAF-927A8CF4AAB6}"/>
              </a:ext>
            </a:extLst>
          </p:cNvPr>
          <p:cNvSpPr/>
          <p:nvPr/>
        </p:nvSpPr>
        <p:spPr>
          <a:xfrm>
            <a:off x="825762" y="3995928"/>
            <a:ext cx="2935224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sz="1300" b="1" dirty="0" err="1">
                <a:solidFill>
                  <a:srgbClr val="0A1A37"/>
                </a:solidFill>
                <a:latin typeface="Aptos"/>
              </a:rPr>
              <a:t>followers_count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/ (</a:t>
            </a:r>
            <a:r>
              <a:rPr sz="1300" b="1" dirty="0" err="1">
                <a:solidFill>
                  <a:srgbClr val="0A1A37"/>
                </a:solidFill>
                <a:latin typeface="Aptos"/>
              </a:rPr>
              <a:t>friends_count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+ 1)</a:t>
            </a:r>
          </a:p>
        </p:txBody>
      </p:sp>
      <p:sp>
        <p:nvSpPr>
          <p:cNvPr id="26" name="Rounded Rectangle 14">
            <a:extLst>
              <a:ext uri="{FF2B5EF4-FFF2-40B4-BE49-F238E27FC236}">
                <a16:creationId xmlns:a16="http://schemas.microsoft.com/office/drawing/2014/main" id="{E5B63940-6FDB-8AD3-E6D3-5B8380D0736A}"/>
              </a:ext>
            </a:extLst>
          </p:cNvPr>
          <p:cNvSpPr/>
          <p:nvPr/>
        </p:nvSpPr>
        <p:spPr>
          <a:xfrm>
            <a:off x="4443984" y="2624327"/>
            <a:ext cx="3337560" cy="1874519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15">
            <a:extLst>
              <a:ext uri="{FF2B5EF4-FFF2-40B4-BE49-F238E27FC236}">
                <a16:creationId xmlns:a16="http://schemas.microsoft.com/office/drawing/2014/main" id="{605A04DD-FBE5-F342-1787-E204F40FF46E}"/>
              </a:ext>
            </a:extLst>
          </p:cNvPr>
          <p:cNvSpPr/>
          <p:nvPr/>
        </p:nvSpPr>
        <p:spPr>
          <a:xfrm>
            <a:off x="4407408" y="2478024"/>
            <a:ext cx="3337560" cy="1975103"/>
          </a:xfrm>
          <a:prstGeom prst="roundRect">
            <a:avLst>
              <a:gd name="adj" fmla="val 8000"/>
            </a:avLst>
          </a:prstGeom>
          <a:solidFill>
            <a:srgbClr val="FCF6EE"/>
          </a:solidFill>
          <a:ln w="17145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190500" rIns="190500" bIns="152400" rtlCol="0" anchor="ctr"/>
          <a:lstStyle/>
          <a:p>
            <a:pPr algn="ctr"/>
            <a:r>
              <a:rPr sz="2000" b="1" dirty="0" err="1">
                <a:solidFill>
                  <a:srgbClr val="F69500"/>
                </a:solidFill>
                <a:latin typeface="Aptos"/>
              </a:rPr>
              <a:t>activity_ratio</a:t>
            </a:r>
            <a:endParaRPr sz="2000" b="1" dirty="0">
              <a:solidFill>
                <a:srgbClr val="F69500"/>
              </a:solidFill>
              <a:latin typeface="Aptos"/>
            </a:endParaRPr>
          </a:p>
          <a:p>
            <a:pPr algn="ctr">
              <a:spcBef>
                <a:spcPts val="800"/>
              </a:spcBef>
              <a:spcAft>
                <a:spcPts val="1000"/>
              </a:spcAft>
              <a:defRPr sz="1120">
                <a:solidFill>
                  <a:srgbClr val="465470"/>
                </a:solidFill>
              </a:defRPr>
            </a:pPr>
            <a:r>
              <a:rPr lang="fr-FR" sz="1400" dirty="0"/>
              <a:t>Mesure l’activité du compte par rapport à sa visibilité.</a:t>
            </a:r>
            <a:endParaRPr sz="1400" dirty="0"/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6D8844BB-C1F1-1132-91FC-BE92112BF89D}"/>
              </a:ext>
            </a:extLst>
          </p:cNvPr>
          <p:cNvSpPr/>
          <p:nvPr/>
        </p:nvSpPr>
        <p:spPr>
          <a:xfrm>
            <a:off x="4585885" y="4007478"/>
            <a:ext cx="3053757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sz="1300" b="1" dirty="0" err="1">
                <a:solidFill>
                  <a:srgbClr val="0A1A37"/>
                </a:solidFill>
                <a:latin typeface="Aptos"/>
              </a:rPr>
              <a:t>statuses_count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/ (</a:t>
            </a:r>
            <a:r>
              <a:rPr sz="1300" b="1" dirty="0" err="1">
                <a:solidFill>
                  <a:srgbClr val="0A1A37"/>
                </a:solidFill>
                <a:latin typeface="Aptos"/>
              </a:rPr>
              <a:t>followers_count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+ 1)</a:t>
            </a:r>
          </a:p>
        </p:txBody>
      </p:sp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3FF2BE60-1B23-83F5-419F-103D25518A66}"/>
              </a:ext>
            </a:extLst>
          </p:cNvPr>
          <p:cNvSpPr/>
          <p:nvPr/>
        </p:nvSpPr>
        <p:spPr>
          <a:xfrm>
            <a:off x="8193023" y="2624327"/>
            <a:ext cx="3337560" cy="1874519"/>
          </a:xfrm>
          <a:prstGeom prst="roundRect">
            <a:avLst>
              <a:gd name="adj" fmla="val 8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FB53FAC6-98AE-CF4A-7857-6847285A0BCD}"/>
              </a:ext>
            </a:extLst>
          </p:cNvPr>
          <p:cNvSpPr/>
          <p:nvPr/>
        </p:nvSpPr>
        <p:spPr>
          <a:xfrm>
            <a:off x="8156448" y="2514600"/>
            <a:ext cx="3337560" cy="1938527"/>
          </a:xfrm>
          <a:prstGeom prst="roundRect">
            <a:avLst>
              <a:gd name="adj" fmla="val 8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190500" rIns="190500" bIns="152400" rtlCol="0" anchor="ctr"/>
          <a:lstStyle/>
          <a:p>
            <a:pPr algn="ctr"/>
            <a:r>
              <a:rPr sz="2000" b="1" dirty="0" err="1">
                <a:solidFill>
                  <a:srgbClr val="00B578"/>
                </a:solidFill>
                <a:latin typeface="Aptos"/>
              </a:rPr>
              <a:t>visibility_score</a:t>
            </a:r>
            <a:endParaRPr sz="2000" b="1" dirty="0">
              <a:solidFill>
                <a:srgbClr val="00B578"/>
              </a:solidFill>
              <a:latin typeface="Aptos"/>
            </a:endParaRPr>
          </a:p>
          <a:p>
            <a:pPr algn="ctr">
              <a:spcBef>
                <a:spcPts val="800"/>
              </a:spcBef>
              <a:spcAft>
                <a:spcPts val="1000"/>
              </a:spcAft>
              <a:defRPr sz="1120">
                <a:solidFill>
                  <a:srgbClr val="465470"/>
                </a:solidFill>
              </a:defRPr>
            </a:pPr>
            <a:r>
              <a:rPr sz="1400" dirty="0" err="1"/>
              <a:t>Mesure</a:t>
            </a:r>
            <a:r>
              <a:rPr sz="1400" dirty="0"/>
              <a:t> la </a:t>
            </a:r>
            <a:r>
              <a:rPr sz="1400" dirty="0" err="1"/>
              <a:t>visibilité</a:t>
            </a:r>
            <a:r>
              <a:rPr sz="1400" dirty="0"/>
              <a:t> </a:t>
            </a:r>
            <a:r>
              <a:rPr sz="1400" dirty="0" err="1"/>
              <a:t>globale</a:t>
            </a:r>
            <a:r>
              <a:rPr sz="1400" dirty="0"/>
              <a:t> du </a:t>
            </a:r>
            <a:r>
              <a:rPr sz="1400" dirty="0" err="1"/>
              <a:t>profil</a:t>
            </a:r>
            <a:r>
              <a:rPr sz="1400" dirty="0"/>
              <a:t>.</a:t>
            </a:r>
          </a:p>
        </p:txBody>
      </p: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824C1818-D450-3598-2405-2C704FA942D4}"/>
              </a:ext>
            </a:extLst>
          </p:cNvPr>
          <p:cNvSpPr/>
          <p:nvPr/>
        </p:nvSpPr>
        <p:spPr>
          <a:xfrm>
            <a:off x="8357616" y="3992340"/>
            <a:ext cx="2935224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sz="1300" b="1" dirty="0" err="1">
                <a:solidFill>
                  <a:srgbClr val="0A1A37"/>
                </a:solidFill>
                <a:latin typeface="Aptos"/>
              </a:rPr>
              <a:t>followers_count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+ </a:t>
            </a:r>
            <a:r>
              <a:rPr sz="1300" b="1" dirty="0" err="1">
                <a:solidFill>
                  <a:srgbClr val="0A1A37"/>
                </a:solidFill>
                <a:latin typeface="Aptos"/>
              </a:rPr>
              <a:t>listed_count</a:t>
            </a:r>
            <a:r>
              <a:rPr sz="1300" b="1" dirty="0">
                <a:solidFill>
                  <a:srgbClr val="0A1A37"/>
                </a:solidFill>
                <a:latin typeface="Aptos"/>
              </a:rPr>
              <a:t> × 10</a:t>
            </a:r>
          </a:p>
        </p:txBody>
      </p:sp>
      <p:sp>
        <p:nvSpPr>
          <p:cNvPr id="32" name="Rounded Rectangle 20">
            <a:extLst>
              <a:ext uri="{FF2B5EF4-FFF2-40B4-BE49-F238E27FC236}">
                <a16:creationId xmlns:a16="http://schemas.microsoft.com/office/drawing/2014/main" id="{96FFC726-85BA-89D6-7562-466C57128D68}"/>
              </a:ext>
            </a:extLst>
          </p:cNvPr>
          <p:cNvSpPr/>
          <p:nvPr/>
        </p:nvSpPr>
        <p:spPr>
          <a:xfrm>
            <a:off x="1078992" y="4992624"/>
            <a:ext cx="2377440" cy="56692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AF36C219-D372-84CF-EB5F-2F6DAB052B87}"/>
              </a:ext>
            </a:extLst>
          </p:cNvPr>
          <p:cNvSpPr/>
          <p:nvPr/>
        </p:nvSpPr>
        <p:spPr>
          <a:xfrm>
            <a:off x="1051560" y="4956048"/>
            <a:ext cx="2377440" cy="566928"/>
          </a:xfrm>
          <a:prstGeom prst="roundRect">
            <a:avLst>
              <a:gd name="adj" fmla="val 7000"/>
            </a:avLst>
          </a:prstGeom>
          <a:solidFill>
            <a:srgbClr val="F8FAFD"/>
          </a:solidFill>
          <a:ln w="17145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A1A37"/>
                </a:solidFill>
              </a:rPr>
              <a:t>Dataset utilisateur</a:t>
            </a:r>
          </a:p>
        </p:txBody>
      </p:sp>
      <p:sp>
        <p:nvSpPr>
          <p:cNvPr id="34" name="Rounded Rectangle 22">
            <a:extLst>
              <a:ext uri="{FF2B5EF4-FFF2-40B4-BE49-F238E27FC236}">
                <a16:creationId xmlns:a16="http://schemas.microsoft.com/office/drawing/2014/main" id="{AA6A07B7-980C-4899-6843-6460ECAC0736}"/>
              </a:ext>
            </a:extLst>
          </p:cNvPr>
          <p:cNvSpPr/>
          <p:nvPr/>
        </p:nvSpPr>
        <p:spPr>
          <a:xfrm>
            <a:off x="4645152" y="4992624"/>
            <a:ext cx="2788920" cy="56692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9EB1A87E-BF72-4356-1188-199FBF448D3A}"/>
              </a:ext>
            </a:extLst>
          </p:cNvPr>
          <p:cNvSpPr/>
          <p:nvPr/>
        </p:nvSpPr>
        <p:spPr>
          <a:xfrm>
            <a:off x="4617720" y="4956048"/>
            <a:ext cx="2788920" cy="5669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14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962FF"/>
                </a:solidFill>
              </a:rPr>
              <a:t>+ 3 indicateurs</a:t>
            </a:r>
          </a:p>
        </p:txBody>
      </p:sp>
      <p:sp>
        <p:nvSpPr>
          <p:cNvPr id="36" name="Rounded Rectangle 24">
            <a:extLst>
              <a:ext uri="{FF2B5EF4-FFF2-40B4-BE49-F238E27FC236}">
                <a16:creationId xmlns:a16="http://schemas.microsoft.com/office/drawing/2014/main" id="{1B5183EC-40EB-0375-6C79-97C51AE5B23C}"/>
              </a:ext>
            </a:extLst>
          </p:cNvPr>
          <p:cNvSpPr/>
          <p:nvPr/>
        </p:nvSpPr>
        <p:spPr>
          <a:xfrm>
            <a:off x="8577072" y="4992624"/>
            <a:ext cx="2377440" cy="56692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5">
            <a:extLst>
              <a:ext uri="{FF2B5EF4-FFF2-40B4-BE49-F238E27FC236}">
                <a16:creationId xmlns:a16="http://schemas.microsoft.com/office/drawing/2014/main" id="{09F359A0-46A7-9AD6-9B2F-3A4EA0C69F42}"/>
              </a:ext>
            </a:extLst>
          </p:cNvPr>
          <p:cNvSpPr/>
          <p:nvPr/>
        </p:nvSpPr>
        <p:spPr>
          <a:xfrm>
            <a:off x="8549640" y="4956048"/>
            <a:ext cx="2377440" cy="566928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714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0B578"/>
                </a:solidFill>
              </a:rPr>
              <a:t>Dataset enrichi</a:t>
            </a:r>
          </a:p>
        </p:txBody>
      </p:sp>
      <p:cxnSp>
        <p:nvCxnSpPr>
          <p:cNvPr id="38" name="Connector 26">
            <a:extLst>
              <a:ext uri="{FF2B5EF4-FFF2-40B4-BE49-F238E27FC236}">
                <a16:creationId xmlns:a16="http://schemas.microsoft.com/office/drawing/2014/main" id="{2D606BE9-3B72-AF94-5FCA-3AEF86CFABD6}"/>
              </a:ext>
            </a:extLst>
          </p:cNvPr>
          <p:cNvCxnSpPr/>
          <p:nvPr/>
        </p:nvCxnSpPr>
        <p:spPr>
          <a:xfrm>
            <a:off x="3429000" y="5239512"/>
            <a:ext cx="1188720" cy="0"/>
          </a:xfrm>
          <a:prstGeom prst="line">
            <a:avLst/>
          </a:prstGeom>
          <a:ln w="1524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27">
            <a:extLst>
              <a:ext uri="{FF2B5EF4-FFF2-40B4-BE49-F238E27FC236}">
                <a16:creationId xmlns:a16="http://schemas.microsoft.com/office/drawing/2014/main" id="{67FF5188-B999-008A-5790-FE177DB08FEF}"/>
              </a:ext>
            </a:extLst>
          </p:cNvPr>
          <p:cNvCxnSpPr/>
          <p:nvPr/>
        </p:nvCxnSpPr>
        <p:spPr>
          <a:xfrm>
            <a:off x="7406640" y="5239512"/>
            <a:ext cx="1143000" cy="0"/>
          </a:xfrm>
          <a:prstGeom prst="line">
            <a:avLst/>
          </a:prstGeom>
          <a:ln w="1524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28">
            <a:extLst>
              <a:ext uri="{FF2B5EF4-FFF2-40B4-BE49-F238E27FC236}">
                <a16:creationId xmlns:a16="http://schemas.microsoft.com/office/drawing/2014/main" id="{A86747EA-40C2-DBD6-65EB-034E5C48FE68}"/>
              </a:ext>
            </a:extLst>
          </p:cNvPr>
          <p:cNvSpPr/>
          <p:nvPr/>
        </p:nvSpPr>
        <p:spPr>
          <a:xfrm>
            <a:off x="960120" y="5943600"/>
            <a:ext cx="10104120" cy="411480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80" b="1">
                <a:solidFill>
                  <a:srgbClr val="0A1A37"/>
                </a:solidFill>
                <a:latin typeface="Aptos"/>
              </a:rPr>
              <a:t>Idée clé : ces variables aident à mieux distinguer les profils atypiques.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Exploration des données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3F6B8A02-D3E4-4F5D-369F-CDBBF69DF51E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7504BFE4-CB82-BB7A-E76E-0EC0038D38C4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6" name="Connector 5">
            <a:extLst>
              <a:ext uri="{FF2B5EF4-FFF2-40B4-BE49-F238E27FC236}">
                <a16:creationId xmlns:a16="http://schemas.microsoft.com/office/drawing/2014/main" id="{2B99C02A-106B-1A07-FCA8-4A69DCC483D9}"/>
              </a:ext>
            </a:extLst>
          </p:cNvPr>
          <p:cNvCxnSpPr/>
          <p:nvPr/>
        </p:nvCxnSpPr>
        <p:spPr>
          <a:xfrm>
            <a:off x="1078992" y="896112"/>
            <a:ext cx="9802368" cy="0"/>
          </a:xfrm>
          <a:prstGeom prst="line">
            <a:avLst/>
          </a:prstGeom>
          <a:ln w="12700">
            <a:solidFill>
              <a:srgbClr val="D6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6890FC83-5113-DF2F-67BF-15F56C359384}"/>
              </a:ext>
            </a:extLst>
          </p:cNvPr>
          <p:cNvSpPr/>
          <p:nvPr/>
        </p:nvSpPr>
        <p:spPr>
          <a:xfrm>
            <a:off x="685800" y="1115568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8DD0AC59-EB1E-E3B7-BA5B-150EB3A079F5}"/>
              </a:ext>
            </a:extLst>
          </p:cNvPr>
          <p:cNvSpPr/>
          <p:nvPr/>
        </p:nvSpPr>
        <p:spPr>
          <a:xfrm>
            <a:off x="658368" y="1078992"/>
            <a:ext cx="1783080" cy="384048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587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00B578"/>
                </a:solidFill>
                <a:latin typeface="Aptos"/>
              </a:rPr>
              <a:t>3_features_calc.ipynb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916E98CE-77C8-61CD-F85E-A91CC8F63C21}"/>
              </a:ext>
            </a:extLst>
          </p:cNvPr>
          <p:cNvSpPr txBox="1"/>
          <p:nvPr/>
        </p:nvSpPr>
        <p:spPr>
          <a:xfrm>
            <a:off x="2697480" y="1097280"/>
            <a:ext cx="634398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500" b="1" i="0">
                <a:solidFill>
                  <a:srgbClr val="465470"/>
                </a:solidFill>
                <a:latin typeface="Aptos"/>
              </a:rPr>
              <a:t>Objectif : </a:t>
            </a:r>
            <a:r>
              <a:rPr lang="en-US" sz="1500" b="1" i="0" err="1">
                <a:solidFill>
                  <a:srgbClr val="465470"/>
                </a:solidFill>
                <a:latin typeface="Aptos"/>
              </a:rPr>
              <a:t>comprendre</a:t>
            </a:r>
            <a:r>
              <a:rPr lang="en-US" sz="1500" b="1" i="0">
                <a:solidFill>
                  <a:srgbClr val="465470"/>
                </a:solidFill>
                <a:latin typeface="Aptos"/>
              </a:rPr>
              <a:t> la distribution des variables avant la </a:t>
            </a:r>
            <a:r>
              <a:rPr lang="en-US" sz="1500" b="1" i="0" err="1">
                <a:solidFill>
                  <a:srgbClr val="465470"/>
                </a:solidFill>
                <a:latin typeface="Aptos"/>
              </a:rPr>
              <a:t>modélisation</a:t>
            </a:r>
            <a:r>
              <a:rPr lang="en-US" sz="1500" b="1" i="0">
                <a:solidFill>
                  <a:srgbClr val="465470"/>
                </a:solidFill>
                <a:latin typeface="Aptos"/>
              </a:rPr>
              <a:t>.</a:t>
            </a:r>
          </a:p>
        </p:txBody>
      </p:sp>
      <p:sp>
        <p:nvSpPr>
          <p:cNvPr id="20" name="Rounded Rectangle 9">
            <a:extLst>
              <a:ext uri="{FF2B5EF4-FFF2-40B4-BE49-F238E27FC236}">
                <a16:creationId xmlns:a16="http://schemas.microsoft.com/office/drawing/2014/main" id="{32867928-117D-A414-CC98-16503293563F}"/>
              </a:ext>
            </a:extLst>
          </p:cNvPr>
          <p:cNvSpPr/>
          <p:nvPr/>
        </p:nvSpPr>
        <p:spPr>
          <a:xfrm>
            <a:off x="685800" y="1728216"/>
            <a:ext cx="5257800" cy="288036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10">
            <a:extLst>
              <a:ext uri="{FF2B5EF4-FFF2-40B4-BE49-F238E27FC236}">
                <a16:creationId xmlns:a16="http://schemas.microsoft.com/office/drawing/2014/main" id="{027798A9-4505-5252-9ABB-40E309B10F7D}"/>
              </a:ext>
            </a:extLst>
          </p:cNvPr>
          <p:cNvSpPr/>
          <p:nvPr/>
        </p:nvSpPr>
        <p:spPr>
          <a:xfrm>
            <a:off x="658368" y="1691640"/>
            <a:ext cx="525780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E4456440-558E-75EB-E4CE-1976A925EE88}"/>
              </a:ext>
            </a:extLst>
          </p:cNvPr>
          <p:cNvSpPr/>
          <p:nvPr/>
        </p:nvSpPr>
        <p:spPr>
          <a:xfrm>
            <a:off x="6382512" y="1728216"/>
            <a:ext cx="4800600" cy="288036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ACDFB707-670B-C4DD-FDB5-E57748B60D9C}"/>
              </a:ext>
            </a:extLst>
          </p:cNvPr>
          <p:cNvSpPr/>
          <p:nvPr/>
        </p:nvSpPr>
        <p:spPr>
          <a:xfrm>
            <a:off x="6355080" y="1691640"/>
            <a:ext cx="480060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13" descr="slide11_plot_cell8.png">
            <a:extLst>
              <a:ext uri="{FF2B5EF4-FFF2-40B4-BE49-F238E27FC236}">
                <a16:creationId xmlns:a16="http://schemas.microsoft.com/office/drawing/2014/main" id="{68D9D42B-0C15-29B5-E6A3-8AEF3AE46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74519"/>
            <a:ext cx="4828032" cy="2377440"/>
          </a:xfrm>
          <a:prstGeom prst="rect">
            <a:avLst/>
          </a:prstGeom>
        </p:spPr>
      </p:pic>
      <p:pic>
        <p:nvPicPr>
          <p:cNvPr id="26" name="Picture 14" descr="slide11_plot_cell9.png">
            <a:extLst>
              <a:ext uri="{FF2B5EF4-FFF2-40B4-BE49-F238E27FC236}">
                <a16:creationId xmlns:a16="http://schemas.microsoft.com/office/drawing/2014/main" id="{93068546-6EB3-A27E-6076-FBE0027AE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901952"/>
            <a:ext cx="4407408" cy="2331720"/>
          </a:xfrm>
          <a:prstGeom prst="rect">
            <a:avLst/>
          </a:prstGeom>
        </p:spPr>
      </p:pic>
      <p:sp>
        <p:nvSpPr>
          <p:cNvPr id="27" name="TextBox 15">
            <a:extLst>
              <a:ext uri="{FF2B5EF4-FFF2-40B4-BE49-F238E27FC236}">
                <a16:creationId xmlns:a16="http://schemas.microsoft.com/office/drawing/2014/main" id="{5B662F4E-4A5D-0E3F-611C-E1506BA83189}"/>
              </a:ext>
            </a:extLst>
          </p:cNvPr>
          <p:cNvSpPr txBox="1"/>
          <p:nvPr/>
        </p:nvSpPr>
        <p:spPr>
          <a:xfrm>
            <a:off x="868680" y="4315968"/>
            <a:ext cx="47548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30" b="1" i="0">
                <a:solidFill>
                  <a:srgbClr val="2962FF"/>
                </a:solidFill>
                <a:latin typeface="Aptos"/>
              </a:rPr>
              <a:t>Distribution logarithmique de followers_count</a:t>
            </a: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D285E532-BBA7-C5E8-ED77-74C4F4966CCA}"/>
              </a:ext>
            </a:extLst>
          </p:cNvPr>
          <p:cNvSpPr txBox="1"/>
          <p:nvPr/>
        </p:nvSpPr>
        <p:spPr>
          <a:xfrm>
            <a:off x="6629400" y="4315968"/>
            <a:ext cx="42976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30" b="1" i="0">
                <a:solidFill>
                  <a:srgbClr val="00B578"/>
                </a:solidFill>
                <a:latin typeface="Aptos"/>
              </a:rPr>
              <a:t>Boxplot de followers_count</a:t>
            </a:r>
          </a:p>
        </p:txBody>
      </p:sp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F8C7FA7-C6E2-BCF8-18E7-2128C7C9A5E6}"/>
              </a:ext>
            </a:extLst>
          </p:cNvPr>
          <p:cNvSpPr/>
          <p:nvPr/>
        </p:nvSpPr>
        <p:spPr>
          <a:xfrm>
            <a:off x="685800" y="4882896"/>
            <a:ext cx="3429000" cy="86868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908A6BF8-10CF-2893-015F-667DDE952700}"/>
              </a:ext>
            </a:extLst>
          </p:cNvPr>
          <p:cNvSpPr/>
          <p:nvPr/>
        </p:nvSpPr>
        <p:spPr>
          <a:xfrm>
            <a:off x="658368" y="4846320"/>
            <a:ext cx="3429000" cy="86868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587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250" b="1" dirty="0">
                <a:solidFill>
                  <a:srgbClr val="2962FF"/>
                </a:solidFill>
              </a:rPr>
              <a:t>Distribution </a:t>
            </a:r>
            <a:r>
              <a:rPr lang="en-US" sz="1250" b="1" err="1">
                <a:solidFill>
                  <a:srgbClr val="2962FF"/>
                </a:solidFill>
              </a:rPr>
              <a:t>asymétrique</a:t>
            </a:r>
            <a:endParaRPr sz="1250" b="1" dirty="0">
              <a:solidFill>
                <a:srgbClr val="2962FF"/>
              </a:solidFill>
            </a:endParaRPr>
          </a:p>
          <a:p>
            <a:pPr>
              <a:defRPr sz="960">
                <a:solidFill>
                  <a:srgbClr val="465470"/>
                </a:solidFill>
              </a:defRPr>
            </a:pPr>
            <a:r>
              <a:rPr dirty="0"/>
              <a:t>La </a:t>
            </a:r>
            <a:r>
              <a:rPr lang="en-US" err="1"/>
              <a:t>majorité</a:t>
            </a:r>
            <a:r>
              <a:rPr dirty="0"/>
              <a:t> des </a:t>
            </a:r>
            <a:r>
              <a:rPr lang="en-US" err="1"/>
              <a:t>utilisateurs</a:t>
            </a:r>
            <a:r>
              <a:rPr dirty="0"/>
              <a:t> </a:t>
            </a:r>
            <a:r>
              <a:rPr lang="en-US" err="1"/>
              <a:t>ont</a:t>
            </a:r>
            <a:r>
              <a:rPr dirty="0"/>
              <a:t> peu de followers.</a:t>
            </a:r>
          </a:p>
        </p:txBody>
      </p: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B77CE92D-6376-6B79-19E8-13DD94963269}"/>
              </a:ext>
            </a:extLst>
          </p:cNvPr>
          <p:cNvSpPr/>
          <p:nvPr/>
        </p:nvSpPr>
        <p:spPr>
          <a:xfrm>
            <a:off x="4462272" y="4882896"/>
            <a:ext cx="3429000" cy="86868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20">
            <a:extLst>
              <a:ext uri="{FF2B5EF4-FFF2-40B4-BE49-F238E27FC236}">
                <a16:creationId xmlns:a16="http://schemas.microsoft.com/office/drawing/2014/main" id="{49551FEF-31A1-0DEF-2CB4-9B991F093B6A}"/>
              </a:ext>
            </a:extLst>
          </p:cNvPr>
          <p:cNvSpPr/>
          <p:nvPr/>
        </p:nvSpPr>
        <p:spPr>
          <a:xfrm>
            <a:off x="4434840" y="4846320"/>
            <a:ext cx="3429000" cy="868680"/>
          </a:xfrm>
          <a:prstGeom prst="roundRect">
            <a:avLst>
              <a:gd name="adj" fmla="val 7000"/>
            </a:avLst>
          </a:prstGeom>
          <a:solidFill>
            <a:srgbClr val="FCF6EE"/>
          </a:solidFill>
          <a:ln w="15875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250" b="1">
                <a:solidFill>
                  <a:srgbClr val="F69500"/>
                </a:solidFill>
              </a:rPr>
              <a:t>Valeurs extrêmes</a:t>
            </a:r>
          </a:p>
          <a:p>
            <a:pPr>
              <a:defRPr sz="960">
                <a:solidFill>
                  <a:srgbClr val="465470"/>
                </a:solidFill>
              </a:defRPr>
            </a:pPr>
            <a:r>
              <a:t>Quelques comptes très visibles dominent l’échelle.</a:t>
            </a:r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2CA69C54-E8E5-6EF3-1F8E-E0C06B45A8E6}"/>
              </a:ext>
            </a:extLst>
          </p:cNvPr>
          <p:cNvSpPr/>
          <p:nvPr/>
        </p:nvSpPr>
        <p:spPr>
          <a:xfrm>
            <a:off x="8238744" y="4882896"/>
            <a:ext cx="2971800" cy="86868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22">
            <a:extLst>
              <a:ext uri="{FF2B5EF4-FFF2-40B4-BE49-F238E27FC236}">
                <a16:creationId xmlns:a16="http://schemas.microsoft.com/office/drawing/2014/main" id="{D6936C2C-A089-0B15-8C7E-0C0D3CFBB6F3}"/>
              </a:ext>
            </a:extLst>
          </p:cNvPr>
          <p:cNvSpPr/>
          <p:nvPr/>
        </p:nvSpPr>
        <p:spPr>
          <a:xfrm>
            <a:off x="8211312" y="4846320"/>
            <a:ext cx="2971800" cy="868680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587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250" b="1">
                <a:solidFill>
                  <a:srgbClr val="00B578"/>
                </a:solidFill>
              </a:rPr>
              <a:t>Impact</a:t>
            </a:r>
          </a:p>
          <a:p>
            <a:pPr>
              <a:defRPr sz="960">
                <a:solidFill>
                  <a:srgbClr val="465470"/>
                </a:solidFill>
              </a:defRPr>
            </a:pPr>
            <a:r>
              <a:t>Ces écarts influencent les visualisations et le clustering.</a:t>
            </a:r>
          </a:p>
        </p:txBody>
      </p:sp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D6F4711-9FEC-974B-1BAD-FBE38E87FDF6}"/>
              </a:ext>
            </a:extLst>
          </p:cNvPr>
          <p:cNvSpPr/>
          <p:nvPr/>
        </p:nvSpPr>
        <p:spPr>
          <a:xfrm>
            <a:off x="960120" y="6053328"/>
            <a:ext cx="10104120" cy="365760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80" b="1">
                <a:solidFill>
                  <a:srgbClr val="0A1A37"/>
                </a:solidFill>
                <a:latin typeface="Aptos"/>
              </a:rPr>
              <a:t>Constat : les variables sociales sont très déséquilibrées, ce qui justifie la normalisation et l’analyse par PCA.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931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PCA : visualisation et limites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25880" y="1005840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Apto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Aptos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AA771E22-C6F9-C9D8-4642-00589E0597D4}"/>
              </a:ext>
            </a:extLst>
          </p:cNvPr>
          <p:cNvSpPr/>
          <p:nvPr/>
        </p:nvSpPr>
        <p:spPr>
          <a:xfrm>
            <a:off x="9558223" y="-548640"/>
            <a:ext cx="3108960" cy="310896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DBEAFE">
                <a:alpha val="6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1D8BD6DD-0556-7BBB-8F0A-66FE52A2F711}"/>
              </a:ext>
            </a:extLst>
          </p:cNvPr>
          <p:cNvSpPr/>
          <p:nvPr/>
        </p:nvSpPr>
        <p:spPr>
          <a:xfrm>
            <a:off x="10038288" y="-137160"/>
            <a:ext cx="228600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25400">
            <a:solidFill>
              <a:srgbClr val="BFDBFE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F8CC2D77-8459-995A-B44E-5406D2D48CC4}"/>
              </a:ext>
            </a:extLst>
          </p:cNvPr>
          <p:cNvSpPr/>
          <p:nvPr/>
        </p:nvSpPr>
        <p:spPr>
          <a:xfrm>
            <a:off x="685800" y="1115568"/>
            <a:ext cx="1691640" cy="384048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6DA62C29-40F8-B7DF-D646-1D2221C13925}"/>
              </a:ext>
            </a:extLst>
          </p:cNvPr>
          <p:cNvSpPr/>
          <p:nvPr/>
        </p:nvSpPr>
        <p:spPr>
          <a:xfrm>
            <a:off x="658368" y="1078992"/>
            <a:ext cx="1691640" cy="384048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587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80" b="1" err="1">
                <a:solidFill>
                  <a:srgbClr val="2962FF"/>
                </a:solidFill>
                <a:latin typeface="Aptos"/>
              </a:rPr>
              <a:t>pca_explorer.ipynb</a:t>
            </a:r>
            <a:endParaRPr sz="980" b="1" dirty="0">
              <a:solidFill>
                <a:srgbClr val="2962FF"/>
              </a:solidFill>
              <a:latin typeface="Aptos"/>
            </a:endParaRP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C558BAA5-5D36-D1E6-5274-2C3D152F633A}"/>
              </a:ext>
            </a:extLst>
          </p:cNvPr>
          <p:cNvSpPr txBox="1"/>
          <p:nvPr/>
        </p:nvSpPr>
        <p:spPr>
          <a:xfrm>
            <a:off x="2606040" y="1097280"/>
            <a:ext cx="788408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465470"/>
                </a:solidFill>
                <a:latin typeface="Aptos"/>
              </a:rPr>
              <a:t>Objectif :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projeter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les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profils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utilisateurs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en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deux dimensions pour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visualiser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</a:t>
            </a:r>
            <a:r>
              <a:rPr sz="1500" b="1" i="0" dirty="0" err="1">
                <a:solidFill>
                  <a:srgbClr val="465470"/>
                </a:solidFill>
                <a:latin typeface="Aptos"/>
              </a:rPr>
              <a:t>leur</a:t>
            </a:r>
            <a:r>
              <a:rPr sz="1500" b="1" i="0" dirty="0">
                <a:solidFill>
                  <a:srgbClr val="465470"/>
                </a:solidFill>
                <a:latin typeface="Aptos"/>
              </a:rPr>
              <a:t> structure.</a:t>
            </a:r>
          </a:p>
        </p:txBody>
      </p:sp>
      <p:sp>
        <p:nvSpPr>
          <p:cNvPr id="21" name="Rounded Rectangle 9">
            <a:extLst>
              <a:ext uri="{FF2B5EF4-FFF2-40B4-BE49-F238E27FC236}">
                <a16:creationId xmlns:a16="http://schemas.microsoft.com/office/drawing/2014/main" id="{B9D055DD-29FA-A12D-72D4-D7225FFD7D6B}"/>
              </a:ext>
            </a:extLst>
          </p:cNvPr>
          <p:cNvSpPr/>
          <p:nvPr/>
        </p:nvSpPr>
        <p:spPr>
          <a:xfrm>
            <a:off x="685800" y="1700784"/>
            <a:ext cx="6629400" cy="4069080"/>
          </a:xfrm>
          <a:prstGeom prst="roundRect">
            <a:avLst>
              <a:gd name="adj" fmla="val 55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0">
            <a:extLst>
              <a:ext uri="{FF2B5EF4-FFF2-40B4-BE49-F238E27FC236}">
                <a16:creationId xmlns:a16="http://schemas.microsoft.com/office/drawing/2014/main" id="{F9154262-D0DF-55A2-3FD1-5CBA517EFE8B}"/>
              </a:ext>
            </a:extLst>
          </p:cNvPr>
          <p:cNvSpPr/>
          <p:nvPr/>
        </p:nvSpPr>
        <p:spPr>
          <a:xfrm>
            <a:off x="658368" y="1664208"/>
            <a:ext cx="6629400" cy="4069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11" descr="pca_cell7_img1.png">
            <a:extLst>
              <a:ext uri="{FF2B5EF4-FFF2-40B4-BE49-F238E27FC236}">
                <a16:creationId xmlns:a16="http://schemas.microsoft.com/office/drawing/2014/main" id="{B7A2EAB7-F696-E715-4CD3-8DB0636DB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74519"/>
            <a:ext cx="6199632" cy="3429000"/>
          </a:xfrm>
          <a:prstGeom prst="rect">
            <a:avLst/>
          </a:prstGeom>
        </p:spPr>
      </p:pic>
      <p:sp>
        <p:nvSpPr>
          <p:cNvPr id="28" name="TextBox 12">
            <a:extLst>
              <a:ext uri="{FF2B5EF4-FFF2-40B4-BE49-F238E27FC236}">
                <a16:creationId xmlns:a16="http://schemas.microsoft.com/office/drawing/2014/main" id="{444915B7-2094-AEBA-C560-8AA6A9885D73}"/>
              </a:ext>
            </a:extLst>
          </p:cNvPr>
          <p:cNvSpPr txBox="1"/>
          <p:nvPr/>
        </p:nvSpPr>
        <p:spPr>
          <a:xfrm>
            <a:off x="960120" y="5413248"/>
            <a:ext cx="598932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30" b="1" i="0">
                <a:solidFill>
                  <a:srgbClr val="2962FF"/>
                </a:solidFill>
                <a:latin typeface="Aptos"/>
              </a:rPr>
              <a:t>Projection PCA des profils utilisateurs (PC1 / PC2)</a:t>
            </a:r>
          </a:p>
        </p:txBody>
      </p:sp>
      <p:sp>
        <p:nvSpPr>
          <p:cNvPr id="30" name="Rounded Rectangle 13">
            <a:extLst>
              <a:ext uri="{FF2B5EF4-FFF2-40B4-BE49-F238E27FC236}">
                <a16:creationId xmlns:a16="http://schemas.microsoft.com/office/drawing/2014/main" id="{8B65D48E-6887-8FBB-FA63-C937C217FBAE}"/>
              </a:ext>
            </a:extLst>
          </p:cNvPr>
          <p:cNvSpPr/>
          <p:nvPr/>
        </p:nvSpPr>
        <p:spPr>
          <a:xfrm>
            <a:off x="7662671" y="1700784"/>
            <a:ext cx="3520440" cy="114300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14">
            <a:extLst>
              <a:ext uri="{FF2B5EF4-FFF2-40B4-BE49-F238E27FC236}">
                <a16:creationId xmlns:a16="http://schemas.microsoft.com/office/drawing/2014/main" id="{06479BA1-C26D-B082-E851-053B186C510B}"/>
              </a:ext>
            </a:extLst>
          </p:cNvPr>
          <p:cNvSpPr/>
          <p:nvPr/>
        </p:nvSpPr>
        <p:spPr>
          <a:xfrm>
            <a:off x="7635240" y="1664208"/>
            <a:ext cx="3520440" cy="11430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5875"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700" b="1" dirty="0" err="1">
                <a:solidFill>
                  <a:srgbClr val="2962FF"/>
                </a:solidFill>
              </a:rPr>
              <a:t>Méthode</a:t>
            </a:r>
            <a:endParaRPr sz="1700" b="1" dirty="0">
              <a:solidFill>
                <a:srgbClr val="2962FF"/>
              </a:solidFill>
            </a:endParaRPr>
          </a:p>
          <a:p>
            <a:pPr>
              <a:defRPr sz="980">
                <a:solidFill>
                  <a:srgbClr val="465470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Standardisation</a:t>
            </a:r>
            <a:r>
              <a:rPr sz="1400" dirty="0"/>
              <a:t> des variables</a:t>
            </a:r>
          </a:p>
          <a:p>
            <a:pPr>
              <a:defRPr sz="980">
                <a:solidFill>
                  <a:srgbClr val="465470"/>
                </a:solidFill>
              </a:defRPr>
            </a:pPr>
            <a:r>
              <a:rPr sz="1400" dirty="0"/>
              <a:t>• PCA avec 2 </a:t>
            </a:r>
            <a:r>
              <a:rPr sz="1400" dirty="0" err="1"/>
              <a:t>composantes</a:t>
            </a:r>
            <a:endParaRPr sz="1400" dirty="0"/>
          </a:p>
          <a:p>
            <a:pPr>
              <a:defRPr sz="980">
                <a:solidFill>
                  <a:srgbClr val="465470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Visualisation</a:t>
            </a:r>
            <a:r>
              <a:rPr sz="1400" dirty="0"/>
              <a:t> PC1 / PC2</a:t>
            </a:r>
          </a:p>
        </p:txBody>
      </p:sp>
      <p:sp>
        <p:nvSpPr>
          <p:cNvPr id="34" name="Rounded Rectangle 15">
            <a:extLst>
              <a:ext uri="{FF2B5EF4-FFF2-40B4-BE49-F238E27FC236}">
                <a16:creationId xmlns:a16="http://schemas.microsoft.com/office/drawing/2014/main" id="{B37BA383-32EC-802A-7190-8FD23EDCA23C}"/>
              </a:ext>
            </a:extLst>
          </p:cNvPr>
          <p:cNvSpPr/>
          <p:nvPr/>
        </p:nvSpPr>
        <p:spPr>
          <a:xfrm>
            <a:off x="7662671" y="3081528"/>
            <a:ext cx="3520440" cy="96012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16">
            <a:extLst>
              <a:ext uri="{FF2B5EF4-FFF2-40B4-BE49-F238E27FC236}">
                <a16:creationId xmlns:a16="http://schemas.microsoft.com/office/drawing/2014/main" id="{BBC0AD01-81CA-CE58-D8CA-5B74882006D2}"/>
              </a:ext>
            </a:extLst>
          </p:cNvPr>
          <p:cNvSpPr/>
          <p:nvPr/>
        </p:nvSpPr>
        <p:spPr>
          <a:xfrm>
            <a:off x="7635240" y="3044952"/>
            <a:ext cx="3520440" cy="960120"/>
          </a:xfrm>
          <a:prstGeom prst="roundRect">
            <a:avLst>
              <a:gd name="adj" fmla="val 7000"/>
            </a:avLst>
          </a:prstGeom>
          <a:solidFill>
            <a:srgbClr val="EEF8F4"/>
          </a:solidFill>
          <a:ln w="15875">
            <a:solidFill>
              <a:srgbClr val="00B5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700" b="1" dirty="0">
                <a:solidFill>
                  <a:srgbClr val="00B578"/>
                </a:solidFill>
              </a:rPr>
              <a:t>Variance </a:t>
            </a:r>
            <a:r>
              <a:rPr sz="1700" b="1" dirty="0" err="1">
                <a:solidFill>
                  <a:srgbClr val="00B578"/>
                </a:solidFill>
              </a:rPr>
              <a:t>expliquée</a:t>
            </a:r>
            <a:endParaRPr sz="1700" b="1" dirty="0">
              <a:solidFill>
                <a:srgbClr val="00B578"/>
              </a:solidFill>
            </a:endParaRPr>
          </a:p>
          <a:p>
            <a:pPr>
              <a:defRPr sz="1019">
                <a:solidFill>
                  <a:srgbClr val="465470"/>
                </a:solidFill>
              </a:defRPr>
            </a:pPr>
            <a:r>
              <a:rPr sz="1500" dirty="0"/>
              <a:t>PC1 : 18,43 %    PC2 : 16,93 %</a:t>
            </a:r>
          </a:p>
          <a:p>
            <a:pPr>
              <a:defRPr sz="1600" b="1">
                <a:solidFill>
                  <a:srgbClr val="00B578"/>
                </a:solidFill>
              </a:defRPr>
            </a:pPr>
            <a:r>
              <a:rPr sz="1700" dirty="0"/>
              <a:t>Total : 35,36 %</a:t>
            </a:r>
          </a:p>
        </p:txBody>
      </p:sp>
      <p:sp>
        <p:nvSpPr>
          <p:cNvPr id="38" name="Rounded Rectangle 17">
            <a:extLst>
              <a:ext uri="{FF2B5EF4-FFF2-40B4-BE49-F238E27FC236}">
                <a16:creationId xmlns:a16="http://schemas.microsoft.com/office/drawing/2014/main" id="{BE503843-A114-DE9D-5AE3-7BEDF2589508}"/>
              </a:ext>
            </a:extLst>
          </p:cNvPr>
          <p:cNvSpPr/>
          <p:nvPr/>
        </p:nvSpPr>
        <p:spPr>
          <a:xfrm>
            <a:off x="7662671" y="4297680"/>
            <a:ext cx="3520440" cy="1463040"/>
          </a:xfrm>
          <a:prstGeom prst="roundRect">
            <a:avLst>
              <a:gd name="adj" fmla="val 7000"/>
            </a:avLst>
          </a:prstGeom>
          <a:solidFill>
            <a:srgbClr val="EB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DD1FDA41-C1E0-328D-226C-48805004A77B}"/>
              </a:ext>
            </a:extLst>
          </p:cNvPr>
          <p:cNvSpPr/>
          <p:nvPr/>
        </p:nvSpPr>
        <p:spPr>
          <a:xfrm>
            <a:off x="7635240" y="4261103"/>
            <a:ext cx="3547871" cy="1628419"/>
          </a:xfrm>
          <a:prstGeom prst="roundRect">
            <a:avLst>
              <a:gd name="adj" fmla="val 7000"/>
            </a:avLst>
          </a:prstGeom>
          <a:solidFill>
            <a:srgbClr val="FCF6EE"/>
          </a:solidFill>
          <a:ln w="15875">
            <a:solidFill>
              <a:srgbClr val="F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Ins="127000" rtlCol="0" anchor="ctr"/>
          <a:lstStyle/>
          <a:p>
            <a:pPr algn="ctr"/>
            <a:r>
              <a:rPr sz="1700" b="1" dirty="0" err="1">
                <a:solidFill>
                  <a:srgbClr val="F69500"/>
                </a:solidFill>
              </a:rPr>
              <a:t>Limites</a:t>
            </a:r>
            <a:endParaRPr sz="1700" b="1" dirty="0">
              <a:solidFill>
                <a:srgbClr val="F69500"/>
              </a:solidFill>
            </a:endParaRPr>
          </a:p>
          <a:p>
            <a:pPr>
              <a:spcAft>
                <a:spcPts val="200"/>
              </a:spcAft>
              <a:defRPr sz="940">
                <a:solidFill>
                  <a:srgbClr val="465470"/>
                </a:solidFill>
              </a:defRPr>
            </a:pPr>
            <a:r>
              <a:rPr sz="1500" dirty="0"/>
              <a:t>• La </a:t>
            </a:r>
            <a:r>
              <a:rPr sz="1500" dirty="0" err="1"/>
              <a:t>représentation</a:t>
            </a:r>
            <a:r>
              <a:rPr sz="1500" dirty="0"/>
              <a:t> 2D </a:t>
            </a:r>
            <a:r>
              <a:rPr sz="1500" dirty="0" err="1"/>
              <a:t>reste</a:t>
            </a:r>
            <a:r>
              <a:rPr sz="1500" dirty="0"/>
              <a:t> </a:t>
            </a:r>
            <a:r>
              <a:rPr sz="1500" dirty="0" err="1"/>
              <a:t>partielle</a:t>
            </a:r>
            <a:r>
              <a:rPr sz="1500" dirty="0"/>
              <a:t>.</a:t>
            </a:r>
          </a:p>
          <a:p>
            <a:pPr>
              <a:spcAft>
                <a:spcPts val="200"/>
              </a:spcAft>
              <a:defRPr sz="940">
                <a:solidFill>
                  <a:srgbClr val="465470"/>
                </a:solidFill>
              </a:defRPr>
            </a:pPr>
            <a:r>
              <a:rPr sz="1500" dirty="0"/>
              <a:t>• Les </a:t>
            </a:r>
            <a:r>
              <a:rPr sz="1500" dirty="0" err="1"/>
              <a:t>profils</a:t>
            </a:r>
            <a:r>
              <a:rPr sz="1500" dirty="0"/>
              <a:t> </a:t>
            </a:r>
            <a:r>
              <a:rPr sz="1500" dirty="0" err="1"/>
              <a:t>extrêmes</a:t>
            </a:r>
            <a:r>
              <a:rPr sz="1500" dirty="0"/>
              <a:t> </a:t>
            </a:r>
            <a:r>
              <a:rPr sz="1500" dirty="0" err="1"/>
              <a:t>peuvent</a:t>
            </a:r>
            <a:r>
              <a:rPr sz="1500" dirty="0"/>
              <a:t> </a:t>
            </a:r>
            <a:r>
              <a:rPr sz="1500" dirty="0" err="1"/>
              <a:t>dominer</a:t>
            </a:r>
            <a:r>
              <a:rPr sz="1500" dirty="0"/>
              <a:t> la projection.</a:t>
            </a:r>
          </a:p>
          <a:p>
            <a:pPr>
              <a:spcAft>
                <a:spcPts val="200"/>
              </a:spcAft>
              <a:defRPr sz="940">
                <a:solidFill>
                  <a:srgbClr val="465470"/>
                </a:solidFill>
              </a:defRPr>
            </a:pPr>
            <a:r>
              <a:rPr sz="1500" dirty="0"/>
              <a:t>• La PCA aide à </a:t>
            </a:r>
            <a:r>
              <a:rPr sz="1500" dirty="0" err="1"/>
              <a:t>visualiser</a:t>
            </a:r>
            <a:r>
              <a:rPr sz="1500" dirty="0"/>
              <a:t>, </a:t>
            </a:r>
            <a:r>
              <a:rPr sz="1500" dirty="0" err="1"/>
              <a:t>mais</a:t>
            </a:r>
            <a:r>
              <a:rPr sz="1500" dirty="0"/>
              <a:t> ne </a:t>
            </a:r>
            <a:r>
              <a:rPr sz="1500" dirty="0" err="1"/>
              <a:t>remplace</a:t>
            </a:r>
            <a:r>
              <a:rPr sz="1500" dirty="0"/>
              <a:t> pas </a:t>
            </a:r>
            <a:r>
              <a:rPr sz="1500" dirty="0" err="1"/>
              <a:t>l’analyse</a:t>
            </a:r>
            <a:r>
              <a:rPr sz="1500" dirty="0"/>
              <a:t> </a:t>
            </a:r>
            <a:r>
              <a:rPr sz="1500" dirty="0" err="1"/>
              <a:t>complète</a:t>
            </a:r>
            <a:r>
              <a:rPr sz="1500" dirty="0"/>
              <a:t>.</a:t>
            </a:r>
          </a:p>
        </p:txBody>
      </p:sp>
      <p:sp>
        <p:nvSpPr>
          <p:cNvPr id="42" name="Rounded Rectangle 19">
            <a:extLst>
              <a:ext uri="{FF2B5EF4-FFF2-40B4-BE49-F238E27FC236}">
                <a16:creationId xmlns:a16="http://schemas.microsoft.com/office/drawing/2014/main" id="{EF11BECF-F57F-84B7-0C42-42AC2625DB78}"/>
              </a:ext>
            </a:extLst>
          </p:cNvPr>
          <p:cNvSpPr/>
          <p:nvPr/>
        </p:nvSpPr>
        <p:spPr>
          <a:xfrm>
            <a:off x="960120" y="6053328"/>
            <a:ext cx="10104120" cy="365760"/>
          </a:xfrm>
          <a:prstGeom prst="roundRect">
            <a:avLst>
              <a:gd name="adj" fmla="val 6000"/>
            </a:avLst>
          </a:prstGeom>
          <a:solidFill>
            <a:srgbClr val="F8FAFD"/>
          </a:solidFill>
          <a:ln w="10160">
            <a:solidFill>
              <a:srgbClr val="D6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0A1A37"/>
                </a:solidFill>
                <a:latin typeface="Aptos"/>
              </a:rPr>
              <a:t>Constat : la PCA est utile pour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visualiser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les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profils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,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mais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deux axes ne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conservent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qu’une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partie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 de </a:t>
            </a:r>
            <a:r>
              <a:rPr sz="1400" b="1" dirty="0" err="1">
                <a:solidFill>
                  <a:srgbClr val="0A1A37"/>
                </a:solidFill>
                <a:latin typeface="Aptos"/>
              </a:rPr>
              <a:t>l’information</a:t>
            </a:r>
            <a:r>
              <a:rPr sz="1400" b="1" dirty="0">
                <a:solidFill>
                  <a:srgbClr val="0A1A37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22" y="0"/>
            <a:ext cx="164592" cy="6858000"/>
          </a:xfrm>
          <a:prstGeom prst="rect">
            <a:avLst/>
          </a:prstGeom>
          <a:solidFill>
            <a:srgbClr val="266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3" name="Arc 2"/>
          <p:cNvSpPr/>
          <p:nvPr/>
        </p:nvSpPr>
        <p:spPr>
          <a:xfrm>
            <a:off x="10962988" y="117578"/>
            <a:ext cx="1051560" cy="1051560"/>
          </a:xfrm>
          <a:prstGeom prst="arc">
            <a:avLst/>
          </a:prstGeom>
          <a:noFill/>
          <a:ln w="16510">
            <a:solidFill>
              <a:srgbClr val="CDE1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4" name="Arc 3"/>
          <p:cNvSpPr/>
          <p:nvPr/>
        </p:nvSpPr>
        <p:spPr>
          <a:xfrm>
            <a:off x="11388538" y="-28392"/>
            <a:ext cx="804672" cy="804672"/>
          </a:xfrm>
          <a:prstGeom prst="arc">
            <a:avLst/>
          </a:prstGeom>
          <a:noFill/>
          <a:ln w="16510">
            <a:solidFill>
              <a:srgbClr val="CDE1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/>
          </a:p>
        </p:txBody>
      </p:sp>
      <p:sp>
        <p:nvSpPr>
          <p:cNvPr id="6" name="TextBox 5"/>
          <p:cNvSpPr txBox="1"/>
          <p:nvPr/>
        </p:nvSpPr>
        <p:spPr>
          <a:xfrm>
            <a:off x="1592978" y="338328"/>
            <a:ext cx="7498079" cy="433965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2700" b="1" dirty="0" err="1">
                <a:solidFill>
                  <a:srgbClr val="0C2340"/>
                </a:solidFill>
                <a:latin typeface="Aptos Display"/>
              </a:rPr>
              <a:t>Approche</a:t>
            </a:r>
            <a:r>
              <a:rPr sz="2700" b="1" dirty="0">
                <a:solidFill>
                  <a:srgbClr val="0C2340"/>
                </a:solidFill>
                <a:latin typeface="Aptos Display"/>
              </a:rPr>
              <a:t> non </a:t>
            </a:r>
            <a:r>
              <a:rPr sz="2700" b="1" dirty="0" err="1">
                <a:solidFill>
                  <a:srgbClr val="0C2340"/>
                </a:solidFill>
                <a:latin typeface="Aptos Display"/>
              </a:rPr>
              <a:t>supervisée</a:t>
            </a:r>
            <a:r>
              <a:rPr sz="2700" b="1" dirty="0">
                <a:solidFill>
                  <a:srgbClr val="0C2340"/>
                </a:solidFill>
                <a:latin typeface="Aptos Display"/>
              </a:rPr>
              <a:t> : K-Means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0893" y="1038533"/>
            <a:ext cx="1783080" cy="2834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6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0" rtlCol="0" anchor="ctr"/>
          <a:lstStyle/>
          <a:p>
            <a:pPr algn="ctr"/>
            <a:r>
              <a:rPr sz="850" b="1">
                <a:solidFill>
                  <a:srgbClr val="266EEB"/>
                </a:solidFill>
                <a:latin typeface="Aptos"/>
              </a:rPr>
              <a:t>4_non_supervise_KMeans.ipynb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167" y="1042415"/>
            <a:ext cx="6080760" cy="464743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450" b="1">
                <a:solidFill>
                  <a:srgbClr val="5A6978"/>
                </a:solidFill>
                <a:latin typeface="Aptos"/>
              </a:rPr>
              <a:t>Objectif : segmenter automatiquement les profils utilisateurs sans utiliser de labels prédéfinis.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612" y="1565002"/>
            <a:ext cx="3657600" cy="29546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800" b="1" err="1">
                <a:solidFill>
                  <a:srgbClr val="0C2340"/>
                </a:solidFill>
                <a:latin typeface="Aptos Display"/>
              </a:rPr>
              <a:t>Méthodologie</a:t>
            </a:r>
            <a:r>
              <a:rPr sz="1800" b="1">
                <a:solidFill>
                  <a:srgbClr val="0C2340"/>
                </a:solidFill>
                <a:latin typeface="Aptos Display"/>
              </a:rPr>
              <a:t> </a:t>
            </a:r>
            <a:r>
              <a:rPr sz="1800" b="1" err="1">
                <a:solidFill>
                  <a:srgbClr val="0C2340"/>
                </a:solidFill>
                <a:latin typeface="Aptos Display"/>
              </a:rPr>
              <a:t>appliquée</a:t>
            </a:r>
            <a:endParaRPr sz="1800" b="1">
              <a:solidFill>
                <a:srgbClr val="0C2340"/>
              </a:solidFill>
              <a:latin typeface="Aptos Display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36064" y="1984248"/>
            <a:ext cx="2606040" cy="1316736"/>
          </a:xfrm>
          <a:prstGeom prst="roundRect">
            <a:avLst/>
          </a:prstGeom>
          <a:solidFill>
            <a:srgbClr val="EFF5FF"/>
          </a:solidFill>
          <a:ln w="19050">
            <a:solidFill>
              <a:srgbClr val="266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109728" bIns="73152" rtlCol="0" anchor="ctr"/>
          <a:lstStyle/>
          <a:p>
            <a:pPr algn="l"/>
            <a:r>
              <a:rPr sz="1480" b="1" dirty="0">
                <a:solidFill>
                  <a:srgbClr val="266EEB"/>
                </a:solidFill>
                <a:latin typeface="Aptos Display"/>
              </a:rPr>
              <a:t>1  </a:t>
            </a:r>
            <a:r>
              <a:rPr sz="1480" b="1" dirty="0" err="1">
                <a:solidFill>
                  <a:srgbClr val="266EEB"/>
                </a:solidFill>
                <a:latin typeface="Aptos Display"/>
              </a:rPr>
              <a:t>Sélection</a:t>
            </a:r>
            <a:r>
              <a:rPr sz="1480" b="1" dirty="0">
                <a:solidFill>
                  <a:srgbClr val="266EEB"/>
                </a:solidFill>
                <a:latin typeface="Aptos Display"/>
              </a:rPr>
              <a:t> des variables</a:t>
            </a:r>
          </a:p>
          <a:p>
            <a:pPr>
              <a:spcBef>
                <a:spcPts val="500"/>
              </a:spcBef>
            </a:pPr>
            <a:r>
              <a:rPr sz="1070" dirty="0">
                <a:solidFill>
                  <a:srgbClr val="5A6978"/>
                </a:solidFill>
                <a:latin typeface="Aptos"/>
              </a:rPr>
              <a:t>19 variables </a:t>
            </a:r>
            <a:r>
              <a:rPr sz="1070" dirty="0" err="1">
                <a:solidFill>
                  <a:srgbClr val="5A6978"/>
                </a:solidFill>
                <a:latin typeface="Aptos"/>
              </a:rPr>
              <a:t>numériques</a:t>
            </a:r>
            <a:r>
              <a:rPr sz="1070" dirty="0">
                <a:solidFill>
                  <a:srgbClr val="5A6978"/>
                </a:solidFill>
                <a:latin typeface="Aptos"/>
              </a:rPr>
              <a:t> :
followers, friends, statuses, hashtags, </a:t>
            </a:r>
            <a:r>
              <a:rPr sz="1070" dirty="0" err="1">
                <a:solidFill>
                  <a:srgbClr val="5A6978"/>
                </a:solidFill>
                <a:latin typeface="Aptos"/>
              </a:rPr>
              <a:t>urls</a:t>
            </a:r>
            <a:r>
              <a:rPr sz="1070" dirty="0">
                <a:solidFill>
                  <a:srgbClr val="5A6978"/>
                </a:solidFill>
                <a:latin typeface="Aptos"/>
              </a:rPr>
              <a:t>, </a:t>
            </a:r>
            <a:r>
              <a:rPr sz="1070" dirty="0" err="1">
                <a:solidFill>
                  <a:srgbClr val="5A6978"/>
                </a:solidFill>
                <a:latin typeface="Aptos"/>
              </a:rPr>
              <a:t>activity_ratio</a:t>
            </a:r>
            <a:r>
              <a:rPr sz="1070" dirty="0">
                <a:solidFill>
                  <a:srgbClr val="5A6978"/>
                </a:solidFill>
                <a:latin typeface="Aptos"/>
              </a:rPr>
              <a:t>, </a:t>
            </a:r>
            <a:r>
              <a:rPr sz="1070" dirty="0" err="1">
                <a:solidFill>
                  <a:srgbClr val="5A6978"/>
                </a:solidFill>
                <a:latin typeface="Aptos"/>
              </a:rPr>
              <a:t>visibility_score</a:t>
            </a:r>
            <a:r>
              <a:rPr sz="1070" dirty="0">
                <a:solidFill>
                  <a:srgbClr val="5A6978"/>
                </a:solidFill>
                <a:latin typeface="Aptos"/>
              </a:rPr>
              <a:t>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7552" y="1984248"/>
            <a:ext cx="2606040" cy="1316736"/>
          </a:xfrm>
          <a:prstGeom prst="roundRect">
            <a:avLst/>
          </a:prstGeom>
          <a:solidFill>
            <a:srgbClr val="EEFCF6"/>
          </a:solidFill>
          <a:ln w="19050">
            <a:solidFill>
              <a:srgbClr val="14B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109728" bIns="73152" rtlCol="0" anchor="ctr"/>
          <a:lstStyle/>
          <a:p>
            <a:pPr algn="l"/>
            <a:r>
              <a:rPr sz="1480" b="1">
                <a:solidFill>
                  <a:srgbClr val="14B487"/>
                </a:solidFill>
                <a:latin typeface="Aptos Display"/>
              </a:rPr>
              <a:t>2  </a:t>
            </a:r>
            <a:r>
              <a:rPr sz="1480" b="1" err="1">
                <a:solidFill>
                  <a:srgbClr val="14B487"/>
                </a:solidFill>
                <a:latin typeface="Aptos Display"/>
              </a:rPr>
              <a:t>Prétraitement</a:t>
            </a:r>
            <a:endParaRPr sz="1480" b="1">
              <a:solidFill>
                <a:srgbClr val="14B487"/>
              </a:solidFill>
              <a:latin typeface="Aptos Display"/>
            </a:endParaRPr>
          </a:p>
          <a:p>
            <a:pPr>
              <a:spcBef>
                <a:spcPts val="500"/>
              </a:spcBef>
            </a:pPr>
            <a:r>
              <a:rPr sz="1110" err="1">
                <a:solidFill>
                  <a:srgbClr val="5A6978"/>
                </a:solidFill>
                <a:latin typeface="Aptos"/>
              </a:rPr>
              <a:t>Standardisation</a:t>
            </a:r>
            <a:r>
              <a:rPr sz="1110">
                <a:solidFill>
                  <a:srgbClr val="5A6978"/>
                </a:solidFill>
                <a:latin typeface="Aptos"/>
              </a:rPr>
              <a:t> des variables avec </a:t>
            </a:r>
            <a:r>
              <a:rPr sz="1110" err="1">
                <a:solidFill>
                  <a:srgbClr val="5A6978"/>
                </a:solidFill>
                <a:latin typeface="Aptos"/>
              </a:rPr>
              <a:t>StandardScaler</a:t>
            </a:r>
            <a:r>
              <a:rPr sz="1110">
                <a:solidFill>
                  <a:srgbClr val="5A6978"/>
                </a:solidFill>
                <a:latin typeface="Aptos"/>
              </a:rPr>
              <a:t> pour </a:t>
            </a:r>
            <a:r>
              <a:rPr sz="1110" err="1">
                <a:solidFill>
                  <a:srgbClr val="5A6978"/>
                </a:solidFill>
                <a:latin typeface="Aptos"/>
              </a:rPr>
              <a:t>rendre</a:t>
            </a:r>
            <a:r>
              <a:rPr sz="1110">
                <a:solidFill>
                  <a:srgbClr val="5A6978"/>
                </a:solidFill>
                <a:latin typeface="Aptos"/>
              </a:rPr>
              <a:t> les </a:t>
            </a:r>
            <a:r>
              <a:rPr sz="1110" err="1">
                <a:solidFill>
                  <a:srgbClr val="5A6978"/>
                </a:solidFill>
                <a:latin typeface="Aptos"/>
              </a:rPr>
              <a:t>échelles</a:t>
            </a:r>
            <a:r>
              <a:rPr sz="1110">
                <a:solidFill>
                  <a:srgbClr val="5A6978"/>
                </a:solidFill>
                <a:latin typeface="Aptos"/>
              </a:rPr>
              <a:t> comparables.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59040" y="1984248"/>
            <a:ext cx="2606040" cy="1316736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109728" bIns="73152" rtlCol="0" anchor="ctr"/>
          <a:lstStyle/>
          <a:p>
            <a:pPr algn="l"/>
            <a:r>
              <a:rPr sz="1480" b="1">
                <a:solidFill>
                  <a:srgbClr val="F59E0B"/>
                </a:solidFill>
                <a:latin typeface="Aptos Display"/>
              </a:rPr>
              <a:t>3  Clustering</a:t>
            </a:r>
          </a:p>
          <a:p>
            <a:pPr>
              <a:spcBef>
                <a:spcPts val="500"/>
              </a:spcBef>
            </a:pPr>
            <a:r>
              <a:rPr sz="1110">
                <a:solidFill>
                  <a:srgbClr val="5A6978"/>
                </a:solidFill>
                <a:latin typeface="Aptos"/>
              </a:rPr>
              <a:t>Application de K-Means sur l’espace PCA pour identifier des groupes de profils.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42104" y="2642616"/>
            <a:ext cx="15544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403592" y="2642616"/>
            <a:ext cx="15544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054352" y="3621024"/>
            <a:ext cx="3017520" cy="29546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800" b="1">
                <a:solidFill>
                  <a:srgbClr val="0C2340"/>
                </a:solidFill>
                <a:latin typeface="Aptos Display"/>
              </a:rPr>
              <a:t>Pipeline de traitement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90928" y="4160520"/>
            <a:ext cx="1399032" cy="713232"/>
          </a:xfrm>
          <a:prstGeom prst="roundRect">
            <a:avLst/>
          </a:prstGeom>
          <a:solidFill>
            <a:srgbClr val="EFF5FF"/>
          </a:solidFill>
          <a:ln w="19050">
            <a:solidFill>
              <a:srgbClr val="266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82296" rIns="36576" bIns="36576" rtlCol="0" anchor="ctr"/>
          <a:lstStyle/>
          <a:p>
            <a:pPr algn="ctr"/>
            <a:r>
              <a:rPr sz="1350" b="1">
                <a:solidFill>
                  <a:srgbClr val="0C2340"/>
                </a:solidFill>
                <a:latin typeface="Aptos Display"/>
              </a:rPr>
              <a:t>Dataset
utilisateur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08248" y="4517136"/>
            <a:ext cx="24688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00856" y="4160520"/>
            <a:ext cx="1399032" cy="713232"/>
          </a:xfrm>
          <a:prstGeom prst="roundRect">
            <a:avLst/>
          </a:prstGeom>
          <a:solidFill>
            <a:srgbClr val="EEFCF6"/>
          </a:solidFill>
          <a:ln w="19050">
            <a:solidFill>
              <a:srgbClr val="14B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82296" rIns="36576" bIns="36576" rtlCol="0" anchor="ctr"/>
          <a:lstStyle/>
          <a:p>
            <a:pPr algn="ctr"/>
            <a:r>
              <a:rPr sz="1350" b="1">
                <a:solidFill>
                  <a:srgbClr val="0C2340"/>
                </a:solidFill>
                <a:latin typeface="Aptos Display"/>
              </a:rPr>
              <a:t>Standardisation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18176" y="4517136"/>
            <a:ext cx="24688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510784" y="4160520"/>
            <a:ext cx="1399032" cy="713232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82296" rIns="36576" bIns="36576" rtlCol="0" anchor="ctr"/>
          <a:lstStyle/>
          <a:p>
            <a:pPr algn="ctr"/>
            <a:r>
              <a:rPr sz="1350" b="1">
                <a:solidFill>
                  <a:srgbClr val="F59E0B"/>
                </a:solidFill>
                <a:latin typeface="Aptos Display"/>
              </a:rPr>
              <a:t>PCA
2 composantes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28104" y="4517136"/>
            <a:ext cx="24688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20712" y="4160520"/>
            <a:ext cx="1399032" cy="713232"/>
          </a:xfrm>
          <a:prstGeom prst="roundRect">
            <a:avLst/>
          </a:prstGeom>
          <a:solidFill>
            <a:srgbClr val="EFF5FF"/>
          </a:solidFill>
          <a:ln w="19050">
            <a:solidFill>
              <a:srgbClr val="266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82296" rIns="36576" bIns="36576" rtlCol="0" anchor="ctr"/>
          <a:lstStyle/>
          <a:p>
            <a:pPr algn="ctr"/>
            <a:r>
              <a:rPr sz="1350" b="1">
                <a:solidFill>
                  <a:srgbClr val="0C2340"/>
                </a:solidFill>
                <a:latin typeface="Aptos Display"/>
              </a:rPr>
              <a:t>K-Means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38032" y="4517136"/>
            <a:ext cx="246888" cy="0"/>
          </a:xfrm>
          <a:prstGeom prst="line">
            <a:avLst/>
          </a:prstGeom>
          <a:ln w="13970">
            <a:solidFill>
              <a:srgbClr val="EB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30640" y="4160520"/>
            <a:ext cx="1399032" cy="713232"/>
          </a:xfrm>
          <a:prstGeom prst="roundRect">
            <a:avLst/>
          </a:prstGeom>
          <a:solidFill>
            <a:srgbClr val="EEFCF6"/>
          </a:solidFill>
          <a:ln w="19050">
            <a:solidFill>
              <a:srgbClr val="14B4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82296" rIns="36576" bIns="36576" rtlCol="0" anchor="ctr"/>
          <a:lstStyle/>
          <a:p>
            <a:pPr algn="ctr"/>
            <a:r>
              <a:rPr sz="1350" b="1">
                <a:solidFill>
                  <a:srgbClr val="0C2340"/>
                </a:solidFill>
                <a:latin typeface="Aptos Display"/>
              </a:rPr>
              <a:t>Clusters
utilisateurs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0929" y="5184648"/>
            <a:ext cx="7882127" cy="502920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54864" rtlCol="0" anchor="ctr"/>
          <a:lstStyle/>
          <a:p>
            <a:pPr algn="ctr"/>
            <a:r>
              <a:rPr sz="1280" b="1">
                <a:solidFill>
                  <a:srgbClr val="0C2340"/>
                </a:solidFill>
                <a:latin typeface="Aptos"/>
              </a:rPr>
              <a:t>Pourquoi K-Means ? Méthode simple, interprétable et adaptée pour explorer naturellement les comportements utilisateurs.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73808" y="6016752"/>
            <a:ext cx="7699248" cy="384048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tlCol="0" anchor="ctr"/>
          <a:lstStyle/>
          <a:p>
            <a:pPr algn="ctr"/>
            <a:r>
              <a:rPr sz="1240" b="1">
                <a:solidFill>
                  <a:srgbClr val="0C2340"/>
                </a:solidFill>
                <a:latin typeface="Aptos"/>
              </a:rPr>
              <a:t>Idée clé : découvrir des groupes naturels d’utilisateurs sans connaissance préalable des classes.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42316" y="6621467"/>
            <a:ext cx="274320" cy="1261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/>
            <a:r>
              <a:rPr sz="700" b="0">
                <a:solidFill>
                  <a:srgbClr val="8791A0"/>
                </a:solidFill>
                <a:latin typeface="Aptos"/>
              </a:rPr>
              <a:t>13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AF859C3C-3857-CDCF-01E8-B238E7E2D8EB}"/>
              </a:ext>
            </a:extLst>
          </p:cNvPr>
          <p:cNvSpPr/>
          <p:nvPr/>
        </p:nvSpPr>
        <p:spPr>
          <a:xfrm>
            <a:off x="1277754" y="919212"/>
            <a:ext cx="9966960" cy="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E1AF193A-709B-E38A-77A7-52C0AD1582DA}"/>
              </a:ext>
            </a:extLst>
          </p:cNvPr>
          <p:cNvSpPr/>
          <p:nvPr/>
        </p:nvSpPr>
        <p:spPr>
          <a:xfrm>
            <a:off x="640080" y="502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032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11292840" y="137160"/>
            <a:ext cx="731520" cy="548640"/>
          </a:xfrm>
          <a:prstGeom prst="arc">
            <a:avLst/>
          </a:prstGeom>
          <a:noFill/>
          <a:ln w="19050">
            <a:solidFill>
              <a:srgbClr val="CD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8592" y="51612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02336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A1F3D"/>
                </a:solidFill>
                <a:latin typeface="Arial"/>
              </a:rPr>
              <a:t>Expérimentations K-Means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987552"/>
            <a:ext cx="9509760" cy="18288"/>
          </a:xfrm>
          <a:prstGeom prst="rect">
            <a:avLst/>
          </a:prstGeom>
          <a:solidFill>
            <a:srgbClr val="DE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111556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7084"/>
                </a:solidFill>
                <a:latin typeface="Arial"/>
              </a:rPr>
              <a:t>Objectif : choisir le nombre de clusters et comparer deux configurations de K-Means.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18488"/>
            <a:ext cx="5257800" cy="4251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7647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563EB"/>
                </a:solidFill>
                <a:latin typeface="Arial"/>
              </a:rPr>
              <a:t>Expérience 1 : K-Means avec PCA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719072"/>
            <a:ext cx="777240" cy="3200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83480" y="1783080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K = 4</a:t>
            </a:r>
          </a:p>
        </p:txBody>
      </p:sp>
      <p:pic>
        <p:nvPicPr>
          <p:cNvPr id="12" name="Picture 11" descr="coud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67128"/>
            <a:ext cx="4800600" cy="24231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7552" y="4590288"/>
            <a:ext cx="4800600" cy="1143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1184" y="4700016"/>
            <a:ext cx="4471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563EB"/>
                </a:solidFill>
                <a:latin typeface="Arial"/>
              </a:rPr>
              <a:t>Observation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28617"/>
            <a:ext cx="44805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t>Forte </a:t>
            </a:r>
            <a:r>
              <a:rPr err="1"/>
              <a:t>baisse</a:t>
            </a:r>
            <a:r>
              <a:t> de </a:t>
            </a:r>
            <a:r>
              <a:rPr err="1"/>
              <a:t>l’inertie</a:t>
            </a:r>
            <a:r>
              <a:t> </a:t>
            </a:r>
            <a:r>
              <a:rPr err="1"/>
              <a:t>jusqu’à</a:t>
            </a:r>
            <a:r>
              <a:t> K=4</a:t>
            </a:r>
          </a:p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t>Après K=4, la </a:t>
            </a:r>
            <a:r>
              <a:rPr err="1"/>
              <a:t>courbe</a:t>
            </a:r>
            <a:r>
              <a:t> </a:t>
            </a:r>
            <a:r>
              <a:rPr err="1"/>
              <a:t>s’aplatit</a:t>
            </a:r>
            <a:r>
              <a:t> </a:t>
            </a:r>
            <a:r>
              <a:rPr err="1"/>
              <a:t>progressivement</a:t>
            </a:r>
            <a:endParaRPr/>
          </a:p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t>K=4 </a:t>
            </a:r>
            <a:r>
              <a:rPr err="1"/>
              <a:t>donne</a:t>
            </a:r>
            <a:r>
              <a:t> </a:t>
            </a:r>
            <a:r>
              <a:rPr err="1"/>
              <a:t>une</a:t>
            </a:r>
            <a:r>
              <a:t> segmentation </a:t>
            </a:r>
            <a:r>
              <a:rPr err="1"/>
              <a:t>lisible</a:t>
            </a:r>
            <a:r>
              <a:t> sur le plan PCA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618488"/>
            <a:ext cx="5257800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17647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Arial"/>
              </a:rPr>
              <a:t>Expérience 2 : K-Means sans PCA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9880" y="1719072"/>
            <a:ext cx="777240" cy="3200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1320" y="1783080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9669"/>
                </a:solidFill>
                <a:latin typeface="Arial"/>
              </a:rPr>
              <a:t>K = 6</a:t>
            </a:r>
          </a:p>
        </p:txBody>
      </p:sp>
      <p:pic>
        <p:nvPicPr>
          <p:cNvPr id="20" name="Picture 19" descr="coudeSans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67128"/>
            <a:ext cx="4800600" cy="24231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611112" y="4590288"/>
            <a:ext cx="4809744" cy="93268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52844" y="4590288"/>
            <a:ext cx="4471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59669"/>
                </a:solidFill>
                <a:latin typeface="Arial"/>
              </a:rPr>
              <a:t>Observation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4814316"/>
            <a:ext cx="4480560" cy="6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t>Travail sur les variables </a:t>
            </a:r>
            <a:r>
              <a:rPr err="1"/>
              <a:t>normalisées</a:t>
            </a:r>
            <a:r>
              <a:t> </a:t>
            </a:r>
            <a:r>
              <a:rPr err="1"/>
              <a:t>directement</a:t>
            </a:r>
            <a:endParaRPr/>
          </a:p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rPr err="1"/>
              <a:t>Utilisation</a:t>
            </a:r>
            <a:r>
              <a:t> </a:t>
            </a:r>
            <a:r>
              <a:rPr err="1"/>
              <a:t>d’une</a:t>
            </a:r>
            <a:r>
              <a:t> transformation </a:t>
            </a:r>
            <a:r>
              <a:rPr err="1"/>
              <a:t>logarithmique</a:t>
            </a:r>
            <a:endParaRPr/>
          </a:p>
          <a:p>
            <a:pPr>
              <a:spcAft>
                <a:spcPts val="300"/>
              </a:spcAft>
              <a:defRPr sz="1060">
                <a:solidFill>
                  <a:srgbClr val="607084"/>
                </a:solidFill>
                <a:latin typeface="Arial"/>
              </a:defRPr>
            </a:pPr>
            <a:r>
              <a:t>Segmentation plus fine des </a:t>
            </a:r>
            <a:r>
              <a:rPr lang="fr-FR"/>
              <a:t>comportements</a:t>
            </a:r>
            <a:r>
              <a:t> </a:t>
            </a:r>
            <a:r>
              <a:rPr err="1"/>
              <a:t>utilisateurs</a:t>
            </a:r>
            <a:endParaRPr/>
          </a:p>
        </p:txBody>
      </p:sp>
      <p:sp>
        <p:nvSpPr>
          <p:cNvPr id="24" name="Right Arrow 23"/>
          <p:cNvSpPr/>
          <p:nvPr/>
        </p:nvSpPr>
        <p:spPr>
          <a:xfrm>
            <a:off x="5897880" y="3291840"/>
            <a:ext cx="384048" cy="320040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417320" y="5897880"/>
            <a:ext cx="9509760" cy="585216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91640" y="6035040"/>
            <a:ext cx="8961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80" b="1" i="0">
                <a:solidFill>
                  <a:srgbClr val="0A1F3D"/>
                </a:solidFill>
                <a:latin typeface="Arial"/>
              </a:rPr>
              <a:t>Idée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clé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: la PCA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facilite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la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visualisation</a:t>
            </a:r>
            <a:r>
              <a:rPr sz="1180" b="1" i="0">
                <a:solidFill>
                  <a:srgbClr val="0A1F3D"/>
                </a:solidFill>
                <a:latin typeface="Arial"/>
              </a:rPr>
              <a:t>,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tandis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que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le clustering sans PCA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permet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une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analyse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plus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détaillée</a:t>
            </a:r>
            <a:r>
              <a:rPr sz="1180" b="1" i="0">
                <a:solidFill>
                  <a:srgbClr val="0A1F3D"/>
                </a:solidFill>
                <a:latin typeface="Arial"/>
              </a:rPr>
              <a:t> des </a:t>
            </a:r>
            <a:r>
              <a:rPr sz="1180" b="1" i="0" err="1">
                <a:solidFill>
                  <a:srgbClr val="0A1F3D"/>
                </a:solidFill>
                <a:latin typeface="Arial"/>
              </a:rPr>
              <a:t>comportements</a:t>
            </a:r>
            <a:r>
              <a:rPr sz="1180" b="1" i="0">
                <a:solidFill>
                  <a:srgbClr val="0A1F3D"/>
                </a:solidFill>
                <a:latin typeface="Arial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9144" y="6231636"/>
            <a:ext cx="30175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07084"/>
                </a:solidFill>
                <a:latin typeface="Arial"/>
              </a:rPr>
              <a:t>1</a:t>
            </a:r>
            <a:r>
              <a:rPr lang="fr-FR" sz="750" b="0" i="0">
                <a:solidFill>
                  <a:srgbClr val="607084"/>
                </a:solidFill>
                <a:latin typeface="Arial"/>
              </a:rPr>
              <a:t>4</a:t>
            </a:r>
            <a:endParaRPr sz="750" b="0" i="0">
              <a:solidFill>
                <a:srgbClr val="607084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77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11292840" y="109728"/>
            <a:ext cx="777240" cy="594360"/>
          </a:xfrm>
          <a:prstGeom prst="arc">
            <a:avLst/>
          </a:prstGeom>
          <a:noFill/>
          <a:ln w="19050">
            <a:solidFill>
              <a:srgbClr val="CD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25196" y="56692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0233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A1F3D"/>
                </a:solidFill>
                <a:latin typeface="Arial"/>
              </a:rPr>
              <a:t>Résultats et interprétation K-Means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987552"/>
            <a:ext cx="9509760" cy="18288"/>
          </a:xfrm>
          <a:prstGeom prst="rect">
            <a:avLst/>
          </a:prstGeom>
          <a:solidFill>
            <a:srgbClr val="DE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1115568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7084"/>
                </a:solidFill>
                <a:latin typeface="Arial"/>
              </a:rPr>
              <a:t>Visualisation des 4 groupes obtenus après PCA et interprétation métier des clusters.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943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563EB"/>
                </a:solidFill>
                <a:latin typeface="Arial"/>
              </a:rPr>
              <a:t>Classification des utilisateurs sur l’espace PCA</a:t>
            </a:r>
          </a:p>
        </p:txBody>
      </p:sp>
      <p:pic>
        <p:nvPicPr>
          <p:cNvPr id="10" name="Picture 9" descr="Classification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5577840" cy="3429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19556" y="5486400"/>
            <a:ext cx="5458968" cy="21945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8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4712" y="5477256"/>
            <a:ext cx="52578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A1F3D"/>
                </a:solidFill>
                <a:latin typeface="Arial"/>
              </a:rPr>
              <a:t>Lecture : </a:t>
            </a:r>
            <a:r>
              <a:rPr sz="869" b="1" i="0" err="1">
                <a:solidFill>
                  <a:srgbClr val="0A1F3D"/>
                </a:solidFill>
                <a:latin typeface="Arial"/>
              </a:rPr>
              <a:t>chaque</a:t>
            </a:r>
            <a:r>
              <a:rPr sz="869" b="1" i="0">
                <a:solidFill>
                  <a:srgbClr val="0A1F3D"/>
                </a:solidFill>
                <a:latin typeface="Arial"/>
              </a:rPr>
              <a:t> point </a:t>
            </a:r>
            <a:r>
              <a:rPr sz="869" b="1" i="0" err="1">
                <a:solidFill>
                  <a:srgbClr val="0A1F3D"/>
                </a:solidFill>
                <a:latin typeface="Arial"/>
              </a:rPr>
              <a:t>représente</a:t>
            </a:r>
            <a:r>
              <a:rPr sz="869" b="1" i="0">
                <a:solidFill>
                  <a:srgbClr val="0A1F3D"/>
                </a:solidFill>
                <a:latin typeface="Arial"/>
              </a:rPr>
              <a:t> un </a:t>
            </a:r>
            <a:r>
              <a:rPr sz="869" b="1" i="0" err="1">
                <a:solidFill>
                  <a:srgbClr val="0A1F3D"/>
                </a:solidFill>
                <a:latin typeface="Arial"/>
              </a:rPr>
              <a:t>utilisateur</a:t>
            </a:r>
            <a:r>
              <a:rPr sz="869" b="1" i="0">
                <a:solidFill>
                  <a:srgbClr val="0A1F3D"/>
                </a:solidFill>
                <a:latin typeface="Arial"/>
              </a:rPr>
              <a:t>, </a:t>
            </a:r>
            <a:r>
              <a:rPr sz="869" b="1" i="0" err="1">
                <a:solidFill>
                  <a:srgbClr val="0A1F3D"/>
                </a:solidFill>
                <a:latin typeface="Arial"/>
              </a:rPr>
              <a:t>coloré</a:t>
            </a:r>
            <a:r>
              <a:rPr sz="869" b="1" i="0">
                <a:solidFill>
                  <a:srgbClr val="0A1F3D"/>
                </a:solidFill>
                <a:latin typeface="Arial"/>
              </a:rPr>
              <a:t> </a:t>
            </a:r>
            <a:r>
              <a:rPr sz="869" b="1" i="0" err="1">
                <a:solidFill>
                  <a:srgbClr val="0A1F3D"/>
                </a:solidFill>
                <a:latin typeface="Arial"/>
              </a:rPr>
              <a:t>selon</a:t>
            </a:r>
            <a:r>
              <a:rPr sz="869" b="1" i="0">
                <a:solidFill>
                  <a:srgbClr val="0A1F3D"/>
                </a:solidFill>
                <a:latin typeface="Arial"/>
              </a:rPr>
              <a:t> son cluster K-Means.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1600200"/>
            <a:ext cx="2148840" cy="10972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169164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563EB"/>
                </a:solidFill>
                <a:latin typeface="Arial"/>
              </a:rPr>
              <a:t>Cluster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11095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" b="1" i="0">
                <a:solidFill>
                  <a:srgbClr val="0A1F3D"/>
                </a:solidFill>
                <a:latin typeface="Arial"/>
              </a:rPr>
              <a:t>Amplificateurs passifs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2130552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1,18 million de comptes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Majorité d’utilisateurs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Très forte part de retweets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1600200"/>
            <a:ext cx="2148840" cy="109728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69164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59669"/>
                </a:solidFill>
                <a:latin typeface="Arial"/>
              </a:rPr>
              <a:t>Cluster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1911095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" b="1" i="0">
                <a:solidFill>
                  <a:srgbClr val="0A1F3D"/>
                </a:solidFill>
                <a:latin typeface="Arial"/>
              </a:rPr>
              <a:t>Créateurs actifs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130552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661 918 comptes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Partagent plus de liens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Écrivent davantage de contenu original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2880360"/>
            <a:ext cx="2148840" cy="109728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297180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Arial"/>
              </a:rPr>
              <a:t>Cluster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191256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" b="1" i="0">
                <a:solidFill>
                  <a:srgbClr val="0A1F3D"/>
                </a:solidFill>
                <a:latin typeface="Arial"/>
              </a:rPr>
              <a:t>Méga-célébrités / médias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752" y="3410712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27 comptes seulement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Très forte visibilité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Followers moyens très élevés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60" y="2880360"/>
            <a:ext cx="2148840" cy="1097280"/>
          </a:xfrm>
          <a:prstGeom prst="roundRect">
            <a:avLst/>
          </a:prstGeom>
          <a:solidFill>
            <a:srgbClr val="F5F3FF"/>
          </a:solidFill>
          <a:ln w="17780"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0" y="297180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E57C2"/>
                </a:solidFill>
                <a:latin typeface="Arial"/>
              </a:rPr>
              <a:t>Cluster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191256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" b="1" i="0">
                <a:solidFill>
                  <a:srgbClr val="0A1F3D"/>
                </a:solidFill>
                <a:latin typeface="Arial"/>
              </a:rPr>
              <a:t>Super-diffuseurs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5752" y="3410712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326 comptes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Activité très élevée</a:t>
            </a:r>
          </a:p>
          <a:p>
            <a:pPr>
              <a:spcAft>
                <a:spcPts val="100"/>
              </a:spcAft>
              <a:defRPr sz="780">
                <a:solidFill>
                  <a:srgbClr val="607084"/>
                </a:solidFill>
                <a:latin typeface="Arial"/>
              </a:defRPr>
            </a:pPr>
            <a:r>
              <a:t>• Médias, journalistes, comptes officiels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95160" y="4279392"/>
            <a:ext cx="4434840" cy="1261872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78040" y="44165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3D"/>
                </a:solidFill>
                <a:latin typeface="Arial"/>
              </a:rPr>
              <a:t>Interprétation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690872"/>
            <a:ext cx="3977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607084"/>
                </a:solidFill>
                <a:latin typeface="Arial"/>
              </a:defRPr>
            </a:pPr>
            <a:r>
              <a:t>• Les comportements sont fortement hétérogènes.</a:t>
            </a:r>
          </a:p>
          <a:p>
            <a:pPr>
              <a:spcAft>
                <a:spcPts val="200"/>
              </a:spcAft>
              <a:defRPr sz="900">
                <a:solidFill>
                  <a:srgbClr val="607084"/>
                </a:solidFill>
                <a:latin typeface="Arial"/>
              </a:defRPr>
            </a:pPr>
            <a:r>
              <a:t>• Les profils extrêmes tirent la représentation PCA.</a:t>
            </a:r>
          </a:p>
          <a:p>
            <a:pPr>
              <a:spcAft>
                <a:spcPts val="200"/>
              </a:spcAft>
              <a:defRPr sz="900">
                <a:solidFill>
                  <a:srgbClr val="607084"/>
                </a:solidFill>
                <a:latin typeface="Arial"/>
              </a:defRPr>
            </a:pPr>
            <a:r>
              <a:t>• K-Means met en évidence des groupes naturellement différenciés.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17320" y="6144768"/>
            <a:ext cx="9509760" cy="384048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91640" y="6254496"/>
            <a:ext cx="89611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70" b="1" i="0">
                <a:solidFill>
                  <a:srgbClr val="0A1F3D"/>
                </a:solidFill>
                <a:latin typeface="Arial"/>
              </a:rPr>
              <a:t>Idée clé : le clustering révèle une majorité d’amplificateurs passifs et quelques profils très influents ou très actifs.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10528"/>
            <a:ext cx="30175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07084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84915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11292840" y="109728"/>
            <a:ext cx="777240" cy="594360"/>
          </a:xfrm>
          <a:prstGeom prst="arc">
            <a:avLst/>
          </a:prstGeom>
          <a:noFill/>
          <a:ln w="19050">
            <a:solidFill>
              <a:srgbClr val="CD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0233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A1F3D"/>
                </a:solidFill>
                <a:latin typeface="Arial"/>
              </a:rPr>
              <a:t>Approche supervisée : Random Forest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987552"/>
            <a:ext cx="9509760" cy="18288"/>
          </a:xfrm>
          <a:prstGeom prst="rect">
            <a:avLst/>
          </a:prstGeom>
          <a:solidFill>
            <a:srgbClr val="DE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310896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0708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115568"/>
            <a:ext cx="9464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7084"/>
                </a:solidFill>
                <a:latin typeface="Arial"/>
              </a:rPr>
              <a:t>Objectif : prédire automatiquement si un profil utilisateur est normal ou atypique à partir de ses caractéristiques comportementales.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554480"/>
            <a:ext cx="2148840" cy="292608"/>
          </a:xfrm>
          <a:prstGeom prst="roundRect">
            <a:avLst/>
          </a:prstGeom>
          <a:solidFill>
            <a:srgbClr val="EFF6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36192" y="1645920"/>
            <a:ext cx="19202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2563EB"/>
                </a:solidFill>
                <a:latin typeface="Arial"/>
              </a:rPr>
              <a:t>Algorithme supervisé.ipynb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9385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1F3D"/>
                </a:solidFill>
                <a:latin typeface="Arial"/>
              </a:rPr>
              <a:t>Méthodologie appliquée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2359152"/>
            <a:ext cx="2971800" cy="1755648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9344" y="251460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Arial"/>
              </a:rPr>
              <a:t>1 Construction de la cible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816352"/>
            <a:ext cx="2560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Score d’atypicité sur 4 critères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Atypique si au moins 2 critères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206 024 profils atypiques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≈ 11,18 % des utilisateurs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359152"/>
            <a:ext cx="2971800" cy="17556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9744" y="251460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Arial"/>
              </a:rPr>
              <a:t>2 Séparation train/test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2816352"/>
            <a:ext cx="2560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80 % entraînement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20 % test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Stratification de la variable cible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Conservation des proportions de classes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359152"/>
            <a:ext cx="2971800" cy="1755648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0144" y="251460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Arial"/>
              </a:rPr>
              <a:t>3 Entraînement du modèle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2816352"/>
            <a:ext cx="2560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RandomForestClassifier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300 arbres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class_weight = balanced</a:t>
            </a:r>
          </a:p>
          <a:p>
            <a:pPr>
              <a:spcAft>
                <a:spcPts val="300"/>
              </a:spcAft>
              <a:defRPr sz="960">
                <a:solidFill>
                  <a:srgbClr val="607084"/>
                </a:solidFill>
                <a:latin typeface="Arial"/>
              </a:defRPr>
            </a:pPr>
            <a:r>
              <a:t>• random_state = 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074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A1F3D"/>
                </a:solidFill>
                <a:latin typeface="Arial"/>
              </a:rPr>
              <a:t>Pipeline de 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4754880"/>
            <a:ext cx="1417320" cy="566928"/>
          </a:xfrm>
          <a:prstGeom prst="roundRect">
            <a:avLst/>
          </a:prstGeom>
          <a:solidFill>
            <a:srgbClr val="EFF6FF"/>
          </a:solidFill>
          <a:ln w="165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90472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Dataset
utilisateur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871216" y="4946904"/>
            <a:ext cx="256032" cy="164592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154680" y="4754880"/>
            <a:ext cx="1417320" cy="566928"/>
          </a:xfrm>
          <a:prstGeom prst="roundRect">
            <a:avLst/>
          </a:prstGeom>
          <a:solidFill>
            <a:srgbClr val="ECFDF5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27832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Score
d’atypicité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608576" y="4946904"/>
            <a:ext cx="256032" cy="164592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892040" y="4754880"/>
            <a:ext cx="1417320" cy="566928"/>
          </a:xfrm>
          <a:prstGeom prst="roundRect">
            <a:avLst/>
          </a:prstGeom>
          <a:solidFill>
            <a:srgbClr val="FFF7ED"/>
          </a:solidFill>
          <a:ln w="1651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65192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Label
0 / 1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345936" y="4946904"/>
            <a:ext cx="256032" cy="164592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629399" y="4754880"/>
            <a:ext cx="1417320" cy="566928"/>
          </a:xfrm>
          <a:prstGeom prst="roundRect">
            <a:avLst/>
          </a:prstGeom>
          <a:solidFill>
            <a:srgbClr val="EFF6FF"/>
          </a:solidFill>
          <a:ln w="165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02551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Train / Test
80 / 20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083295" y="4946904"/>
            <a:ext cx="256032" cy="164592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366760" y="4754880"/>
            <a:ext cx="1417320" cy="566928"/>
          </a:xfrm>
          <a:prstGeom prst="roundRect">
            <a:avLst/>
          </a:prstGeom>
          <a:solidFill>
            <a:srgbClr val="ECFDF5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39912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Random
Forest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820656" y="4946904"/>
            <a:ext cx="256032" cy="164592"/>
          </a:xfrm>
          <a:prstGeom prst="rightArrow">
            <a:avLst/>
          </a:prstGeom>
          <a:solidFill>
            <a:srgbClr val="E6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104120" y="4754880"/>
            <a:ext cx="1417320" cy="566928"/>
          </a:xfrm>
          <a:prstGeom prst="roundRect">
            <a:avLst/>
          </a:prstGeom>
          <a:solidFill>
            <a:srgbClr val="FFF7ED"/>
          </a:solidFill>
          <a:ln w="1651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177272" y="4910328"/>
            <a:ext cx="1271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1F3D"/>
                </a:solidFill>
                <a:latin typeface="Arial"/>
              </a:rPr>
              <a:t>Prédiction
normal / atypique</a:t>
            </a:r>
          </a:p>
        </p:txBody>
      </p:sp>
      <p:pic>
        <p:nvPicPr>
          <p:cNvPr id="39" name="Picture 38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8016" y="4782312"/>
            <a:ext cx="566928" cy="56692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417320" y="5897880"/>
            <a:ext cx="9509760" cy="45720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45920" y="6035040"/>
            <a:ext cx="9052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20" b="1" i="0">
                <a:solidFill>
                  <a:srgbClr val="0A1F3D"/>
                </a:solidFill>
                <a:latin typeface="Arial"/>
              </a:rPr>
              <a:t>Idée clé : le modèle supervisé apprend à reproduire automatiquement notre définition métier du profil atypique.</a:t>
            </a:r>
          </a:p>
        </p:txBody>
      </p:sp>
    </p:spTree>
    <p:extLst>
      <p:ext uri="{BB962C8B-B14F-4D97-AF65-F5344CB8AC3E}">
        <p14:creationId xmlns:p14="http://schemas.microsoft.com/office/powerpoint/2010/main" val="3223433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11292840" y="109728"/>
            <a:ext cx="777240" cy="594360"/>
          </a:xfrm>
          <a:prstGeom prst="arc">
            <a:avLst/>
          </a:prstGeom>
          <a:noFill/>
          <a:ln w="19050">
            <a:solidFill>
              <a:srgbClr val="CD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0233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A1F3D"/>
                </a:solidFill>
                <a:latin typeface="Arial"/>
              </a:rPr>
              <a:t>Résultats Random Forest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987552"/>
            <a:ext cx="9509760" cy="18288"/>
          </a:xfrm>
          <a:prstGeom prst="rect">
            <a:avLst/>
          </a:prstGeom>
          <a:solidFill>
            <a:srgbClr val="DE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29260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07084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115568"/>
            <a:ext cx="9464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7084"/>
                </a:solidFill>
                <a:latin typeface="Arial"/>
              </a:rPr>
              <a:t>Évaluation du modèle sur l’ensemble de test et analyse de sa capacité à détecter les profils atypiques.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34924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7190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563EB"/>
                </a:solidFill>
                <a:latin typeface="Arial"/>
              </a:rPr>
              <a:t>Matrice de confusion</a:t>
            </a:r>
          </a:p>
        </p:txBody>
      </p:sp>
      <p:pic>
        <p:nvPicPr>
          <p:cNvPr id="11" name="Picture 10" descr="matrice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11680"/>
            <a:ext cx="4526280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60" y="162763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3D"/>
                </a:solidFill>
                <a:latin typeface="Arial"/>
              </a:rPr>
              <a:t>Performances obtenues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993392"/>
            <a:ext cx="2011680" cy="82296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2103120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563EB"/>
                </a:solidFill>
                <a:latin typeface="Arial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2257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D"/>
                </a:solidFill>
                <a:latin typeface="Arial"/>
              </a:rPr>
              <a:t>97 %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993392"/>
            <a:ext cx="2011680" cy="82296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2103120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59669"/>
                </a:solidFill>
                <a:latin typeface="Arial"/>
              </a:rPr>
              <a:t>Precision atypique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322576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D"/>
                </a:solidFill>
                <a:latin typeface="Arial"/>
              </a:rPr>
              <a:t>80 %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035808"/>
            <a:ext cx="2011680" cy="82296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3145536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Recall atypique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64991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D"/>
                </a:solidFill>
                <a:latin typeface="Arial"/>
              </a:rPr>
              <a:t>100 %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3035808"/>
            <a:ext cx="2011680" cy="822960"/>
          </a:xfrm>
          <a:prstGeom prst="roundRect">
            <a:avLst/>
          </a:prstGeom>
          <a:solidFill>
            <a:srgbClr val="F5F3FF"/>
          </a:solidFill>
          <a:ln w="17780"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3145536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7E57C2"/>
                </a:solidFill>
                <a:latin typeface="Arial"/>
              </a:rPr>
              <a:t>F1-score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364991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3D"/>
                </a:solidFill>
                <a:latin typeface="Arial"/>
              </a:rPr>
              <a:t>88 %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4160520"/>
            <a:ext cx="4343400" cy="123444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0840" y="4315968"/>
            <a:ext cx="3886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3D"/>
                </a:solidFill>
                <a:latin typeface="Arial"/>
              </a:rPr>
              <a:t>Interprétation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590288"/>
            <a:ext cx="3840480" cy="735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19">
                <a:solidFill>
                  <a:srgbClr val="607084"/>
                </a:solidFill>
                <a:latin typeface="Arial"/>
              </a:defRPr>
            </a:pPr>
            <a:r>
              <a:t>• Le </a:t>
            </a:r>
            <a:r>
              <a:rPr err="1"/>
              <a:t>modèle</a:t>
            </a:r>
            <a:r>
              <a:t> </a:t>
            </a:r>
            <a:r>
              <a:rPr err="1"/>
              <a:t>détecte</a:t>
            </a:r>
            <a:r>
              <a:t> </a:t>
            </a:r>
            <a:r>
              <a:rPr err="1"/>
              <a:t>quasiment</a:t>
            </a:r>
            <a:r>
              <a:t> </a:t>
            </a:r>
            <a:r>
              <a:rPr err="1"/>
              <a:t>tous</a:t>
            </a:r>
            <a:r>
              <a:t> les </a:t>
            </a:r>
            <a:r>
              <a:rPr err="1"/>
              <a:t>profils</a:t>
            </a:r>
            <a:r>
              <a:t> </a:t>
            </a:r>
            <a:r>
              <a:rPr err="1"/>
              <a:t>atypiques</a:t>
            </a:r>
            <a:r>
              <a:t>.</a:t>
            </a:r>
          </a:p>
          <a:p>
            <a:pPr>
              <a:spcAft>
                <a:spcPts val="300"/>
              </a:spcAft>
              <a:defRPr sz="919">
                <a:solidFill>
                  <a:srgbClr val="607084"/>
                </a:solidFill>
                <a:latin typeface="Arial"/>
              </a:defRPr>
            </a:pPr>
            <a:r>
              <a:t>• </a:t>
            </a:r>
            <a:r>
              <a:rPr err="1"/>
              <a:t>Seulement</a:t>
            </a:r>
            <a:r>
              <a:t> 177 faux </a:t>
            </a:r>
            <a:r>
              <a:rPr err="1"/>
              <a:t>négatifs</a:t>
            </a:r>
            <a:r>
              <a:t> sur </a:t>
            </a:r>
            <a:r>
              <a:rPr err="1"/>
              <a:t>l’ensemble</a:t>
            </a:r>
            <a:r>
              <a:t> de test.</a:t>
            </a:r>
          </a:p>
          <a:p>
            <a:pPr>
              <a:spcAft>
                <a:spcPts val="300"/>
              </a:spcAft>
              <a:defRPr sz="919">
                <a:solidFill>
                  <a:srgbClr val="607084"/>
                </a:solidFill>
                <a:latin typeface="Arial"/>
              </a:defRPr>
            </a:pPr>
            <a:r>
              <a:t>• </a:t>
            </a:r>
            <a:r>
              <a:rPr lang="fr-FR" sz="919"/>
              <a:t>Le modèle privilégie la détection des profils atypiques au prix d’un nombre limité de faux positifs.</a:t>
            </a:r>
            <a: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6144768"/>
            <a:ext cx="9509760" cy="384048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73352" y="6254496"/>
            <a:ext cx="9006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60" b="1" i="0">
                <a:solidFill>
                  <a:srgbClr val="0A1F3D"/>
                </a:solidFill>
                <a:latin typeface="Arial"/>
              </a:rPr>
              <a:t>Idée clé : le rappel de 100 % montre que le modèle retrouve presque tous les profils atypiques définis par nos critères.</a:t>
            </a:r>
          </a:p>
        </p:txBody>
      </p:sp>
    </p:spTree>
    <p:extLst>
      <p:ext uri="{BB962C8B-B14F-4D97-AF65-F5344CB8AC3E}">
        <p14:creationId xmlns:p14="http://schemas.microsoft.com/office/powerpoint/2010/main" val="275702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6096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rc 2"/>
          <p:cNvSpPr/>
          <p:nvPr/>
        </p:nvSpPr>
        <p:spPr>
          <a:xfrm>
            <a:off x="11292840" y="109728"/>
            <a:ext cx="777240" cy="594360"/>
          </a:xfrm>
          <a:prstGeom prst="arc">
            <a:avLst/>
          </a:prstGeom>
          <a:noFill/>
          <a:ln w="19050">
            <a:solidFill>
              <a:srgbClr val="CD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0233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A1F3D"/>
                </a:solidFill>
                <a:latin typeface="Arial"/>
              </a:rPr>
              <a:t>Comparaison, limites et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987552"/>
            <a:ext cx="9509760" cy="18288"/>
          </a:xfrm>
          <a:prstGeom prst="rect">
            <a:avLst/>
          </a:prstGeom>
          <a:solidFill>
            <a:srgbClr val="DE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510528"/>
            <a:ext cx="292608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07084"/>
                </a:solidFill>
                <a:latin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115568"/>
            <a:ext cx="9464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7084"/>
                </a:solidFill>
                <a:latin typeface="Arial"/>
              </a:rPr>
              <a:t>Synthèse des apports des deux approches et des limites méthodologiques du projet.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5087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3D"/>
                </a:solidFill>
                <a:latin typeface="Arial"/>
              </a:rPr>
              <a:t>Comparaison des approches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1874519"/>
            <a:ext cx="2011680" cy="41148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00200" y="2011680"/>
            <a:ext cx="1645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A1F3D"/>
                </a:solidFill>
                <a:latin typeface="Arial"/>
              </a:rPr>
              <a:t>Critère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874519"/>
            <a:ext cx="2743200" cy="411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0" y="201168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563EB"/>
                </a:solidFill>
                <a:latin typeface="Arial"/>
              </a:rPr>
              <a:t>K-Means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2512" y="1874519"/>
            <a:ext cx="2743200" cy="411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9669"/>
                </a:solidFill>
                <a:latin typeface="Arial"/>
              </a:rPr>
              <a:t>Random Forest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2377440"/>
            <a:ext cx="201168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2505456"/>
            <a:ext cx="17373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19" b="1" i="0">
                <a:solidFill>
                  <a:srgbClr val="0A1F3D"/>
                </a:solidFill>
                <a:latin typeface="Arial"/>
              </a:rPr>
              <a:t>Labels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2377440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75887" y="2505456"/>
            <a:ext cx="243230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Non nécessaires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2377440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2505456"/>
            <a:ext cx="2514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Labels construits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2852928"/>
            <a:ext cx="201168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2980944"/>
            <a:ext cx="17373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19" b="1" i="0">
                <a:solidFill>
                  <a:srgbClr val="0A1F3D"/>
                </a:solidFill>
                <a:latin typeface="Arial"/>
              </a:rPr>
              <a:t>Objectif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2852928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75887" y="2980944"/>
            <a:ext cx="243230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Explorer les groupes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82512" y="2852928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2980944"/>
            <a:ext cx="2514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Classifier automatiquement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3328416"/>
            <a:ext cx="201168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54480" y="3456432"/>
            <a:ext cx="17373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19" b="1" i="0">
                <a:solidFill>
                  <a:srgbClr val="0A1F3D"/>
                </a:solidFill>
                <a:latin typeface="Arial"/>
              </a:rPr>
              <a:t>Résultat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0440" y="3328416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75887" y="3456432"/>
            <a:ext cx="243230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Profils comportementaux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3328416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3456432"/>
            <a:ext cx="2514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Détection normal / atypique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17320" y="3803904"/>
            <a:ext cx="201168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54480" y="3931920"/>
            <a:ext cx="17373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19" b="1" i="0">
                <a:solidFill>
                  <a:srgbClr val="0A1F3D"/>
                </a:solidFill>
                <a:latin typeface="Arial"/>
              </a:rPr>
              <a:t>Atout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3803904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75887" y="3931920"/>
            <a:ext cx="243230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Découverte de comportements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2512" y="3803904"/>
            <a:ext cx="2743200" cy="3931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931920"/>
            <a:ext cx="2514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607084"/>
                </a:solidFill>
                <a:latin typeface="Arial"/>
              </a:rPr>
              <a:t>Très bonnes performances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72600" y="1554480"/>
            <a:ext cx="21488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01200" y="17099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  <a:latin typeface="Arial"/>
              </a:rPr>
              <a:t>Variable clé</a:t>
            </a:r>
          </a:p>
        </p:txBody>
      </p:sp>
      <p:pic>
        <p:nvPicPr>
          <p:cNvPr id="42" name="Picture 41" descr="importanceV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2" y="1993392"/>
            <a:ext cx="1783080" cy="1554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555480" y="3675887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10" b="1" i="0">
                <a:solidFill>
                  <a:srgbClr val="0A1F3D"/>
                </a:solidFill>
                <a:latin typeface="Arial"/>
              </a:rPr>
              <a:t>followers_count ≈ 64 % de l’importance du modèle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17320" y="4526280"/>
            <a:ext cx="4434840" cy="1234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600200" y="468172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Arial"/>
              </a:rPr>
              <a:t>Limites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4956048"/>
            <a:ext cx="3886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90">
                <a:solidFill>
                  <a:srgbClr val="607084"/>
                </a:solidFill>
                <a:latin typeface="Arial"/>
              </a:defRPr>
            </a:pPr>
            <a:r>
              <a:t>• Absence de labels réels</a:t>
            </a:r>
          </a:p>
          <a:p>
            <a:pPr>
              <a:spcAft>
                <a:spcPts val="300"/>
              </a:spcAft>
              <a:defRPr sz="890">
                <a:solidFill>
                  <a:srgbClr val="607084"/>
                </a:solidFill>
                <a:latin typeface="Arial"/>
              </a:defRPr>
            </a:pPr>
            <a:r>
              <a:t>• Dépendance aux règles métier</a:t>
            </a:r>
          </a:p>
          <a:p>
            <a:pPr>
              <a:spcAft>
                <a:spcPts val="300"/>
              </a:spcAft>
              <a:defRPr sz="890">
                <a:solidFill>
                  <a:srgbClr val="607084"/>
                </a:solidFill>
                <a:latin typeface="Arial"/>
              </a:defRPr>
            </a:pPr>
            <a:r>
              <a:t>• Sensibilité de K-Means au choix de 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4526280"/>
            <a:ext cx="4434840" cy="123444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55080" y="468172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57C2"/>
                </a:solidFill>
                <a:latin typeface="Arial"/>
              </a:rPr>
              <a:t>Perspectives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4956048"/>
            <a:ext cx="3886200" cy="404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90">
                <a:solidFill>
                  <a:srgbClr val="607084"/>
                </a:solidFill>
                <a:latin typeface="Arial"/>
              </a:defRPr>
            </a:pPr>
            <a:r>
              <a:t>• </a:t>
            </a:r>
            <a:r>
              <a:rPr err="1"/>
              <a:t>Ajouter</a:t>
            </a:r>
            <a:r>
              <a:t> des données </a:t>
            </a:r>
            <a:r>
              <a:rPr err="1"/>
              <a:t>temporelles</a:t>
            </a:r>
            <a:endParaRPr/>
          </a:p>
          <a:p>
            <a:pPr>
              <a:spcAft>
                <a:spcPts val="300"/>
              </a:spcAft>
              <a:defRPr sz="890">
                <a:solidFill>
                  <a:srgbClr val="607084"/>
                </a:solidFill>
                <a:latin typeface="Arial"/>
              </a:defRPr>
            </a:pPr>
            <a:r>
              <a:t>• </a:t>
            </a:r>
            <a:r>
              <a:rPr err="1"/>
              <a:t>Analyser</a:t>
            </a:r>
            <a:r>
              <a:t> le </a:t>
            </a:r>
            <a:r>
              <a:rPr err="1"/>
              <a:t>graphe</a:t>
            </a:r>
            <a:r>
              <a:t> social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17320" y="6144768"/>
            <a:ext cx="9509760" cy="384048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673352" y="6254496"/>
            <a:ext cx="9006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60" b="1" i="0">
                <a:solidFill>
                  <a:srgbClr val="0A1F3D"/>
                </a:solidFill>
                <a:latin typeface="Arial"/>
              </a:rPr>
              <a:t>Conclusion : K-Means explore les comportements ; Random Forest automatise la détection des profils atypiques.</a:t>
            </a:r>
          </a:p>
        </p:txBody>
      </p:sp>
    </p:spTree>
    <p:extLst>
      <p:ext uri="{BB962C8B-B14F-4D97-AF65-F5344CB8AC3E}">
        <p14:creationId xmlns:p14="http://schemas.microsoft.com/office/powerpoint/2010/main" val="287195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5A21A25EDD6F4E92B1FBFF63968029" ma:contentTypeVersion="5" ma:contentTypeDescription="Crée un document." ma:contentTypeScope="" ma:versionID="1abef71dc1fea5a05dc3b7432a961c05">
  <xsd:schema xmlns:xsd="http://www.w3.org/2001/XMLSchema" xmlns:xs="http://www.w3.org/2001/XMLSchema" xmlns:p="http://schemas.microsoft.com/office/2006/metadata/properties" xmlns:ns3="00beb80f-fa32-4aa1-ad3b-0672493d35ba" targetNamespace="http://schemas.microsoft.com/office/2006/metadata/properties" ma:root="true" ma:fieldsID="930c1f157f7a0a77b24a92d2189134a6" ns3:_="">
    <xsd:import namespace="00beb80f-fa32-4aa1-ad3b-0672493d35b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beb80f-fa32-4aa1-ad3b-0672493d35b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0beb80f-fa32-4aa1-ad3b-0672493d35ba" xsi:nil="true"/>
  </documentManagement>
</p:properties>
</file>

<file path=customXml/itemProps1.xml><?xml version="1.0" encoding="utf-8"?>
<ds:datastoreItem xmlns:ds="http://schemas.openxmlformats.org/officeDocument/2006/customXml" ds:itemID="{01C95FC2-75C3-4FF6-95B9-D92693D31C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0beb80f-fa32-4aa1-ad3b-0672493d35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431183A-E14B-42F6-8F6D-B1F1100566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4A7FA0B-E608-4B6A-9D89-B07C40D5803B}">
  <ds:schemaRefs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elements/1.1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0beb80f-fa32-4aa1-ad3b-0672493d35b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2030</Words>
  <Application>Microsoft Office PowerPoint</Application>
  <PresentationFormat>宽屏</PresentationFormat>
  <Paragraphs>404</Paragraphs>
  <Slides>18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27" baseType="lpstr">
      <vt:lpstr>等线</vt:lpstr>
      <vt:lpstr>等线 Light</vt:lpstr>
      <vt:lpstr>Aptos</vt:lpstr>
      <vt:lpstr>Aptos Display</vt:lpstr>
      <vt:lpstr>Arial</vt:lpstr>
      <vt:lpstr>Georgia</vt:lpstr>
      <vt:lpstr>Office 主题​​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Xinyu HU</dc:creator>
  <cp:lastModifiedBy>Xinyu HU</cp:lastModifiedBy>
  <cp:revision>2</cp:revision>
  <dcterms:created xsi:type="dcterms:W3CDTF">2026-06-14T08:45:34Z</dcterms:created>
  <dcterms:modified xsi:type="dcterms:W3CDTF">2026-06-14T14:39:21Z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0x010100615A21A25EDD6F4E92B1FBFF63968029</vt:lpwstr>
  </property>
</Properties>
</file>