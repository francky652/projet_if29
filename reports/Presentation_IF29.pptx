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3" name="Image 0" descr="/tmp/images/twi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8640"/>
            <a:ext cx="822960" cy="822960"/>
          </a:xfrm>
          <a:prstGeom prst="rect">
            <a:avLst/>
          </a:prstGeom>
        </p:spPr>
      </p:pic>
      <p:pic>
        <p:nvPicPr>
          <p:cNvPr id="4" name="Image 1" descr="/tmp/images/worldc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554480" cy="1554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0" y="685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IF29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de profils atypiques sur Twitter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d'une approche supervisee et d'une approche non supervisee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822960" y="4160520"/>
            <a:ext cx="1371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4434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Tweet_Worldcup (FIFA 2018)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 universitaire 2025 - 2026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02 - Semestre P26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 de Technologie de Troyes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presentation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1762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305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Etat de l'art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28437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7980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et architecture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51129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4655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et qualite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417880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1330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Ingenierie des features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26480" y="15087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1463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Etiquetage par regles expertes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0" y="21762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21305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(non supervise)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126480" y="28437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27980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(supervise)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126480" y="351129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66560" y="34655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comparative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126480" y="417880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66560" y="41330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perspectives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detecter les profils atypiques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probleme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669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(X) reste une plateforme majeure de partage d'information en temps reel.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nature ouverte favorise aussi la presence de comptes automatises, relais de spam, fausses informations et comportements anormaux.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ces profils est essentiel pour la qualite de l'information et la fiabilite des analyses.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371600"/>
            <a:ext cx="5029200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/tmp/images/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0" y="3154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projet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869680" y="3657600"/>
            <a:ext cx="4572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384048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et comparer deux approches de machine learning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non supervisee : reveler des groupes naturels (K-Means).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supervisee : reproduire une definition expert (Random Forest).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Etat de l'art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travaux qui ont inspire la demarche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36576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Ferrara et al. (2016)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of Social Bots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8892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Synthese de reference. Identifie les signaux distinguant un bot : ratios sociaux, frequence de publication, contenu repetitif.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65760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463040"/>
            <a:ext cx="36576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Varol et al. (2017)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social bots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260604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78892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imite, un compte automatise laisse des signatures detectables dans ses metadonnees.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1463040"/>
            <a:ext cx="365760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463040"/>
            <a:ext cx="36576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Perez et al. (2011) - UTT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1.0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12480" y="2606040"/>
            <a:ext cx="5486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278892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en 3 dimensions : agressivite, visibilite, dangerosite. Source d'inspiration directe de nos features.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et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Tweet_Worldcup (FIFA 2018)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 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bruts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651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 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3756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distincts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651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par tweet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98280" y="1325880"/>
            <a:ext cx="2651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09828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(NDJSON)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: MongoDB Compass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semi-structuree du dataset (chaque tweet est un document JSON).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accepte directement les documents bruts, sans schema rigide a definir a l'avance.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par lots via pymongo dans la collection tweets_raw.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Requetes d'agregation natives pour passer du niveau tweet au niveau utilisateur.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7830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760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23160" y="5760720"/>
            <a:ext cx="17830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5760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5760720"/>
            <a:ext cx="17830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5760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5760720"/>
            <a:ext cx="17830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5760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0" y="5760720"/>
            <a:ext cx="17830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5760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87000" y="5760720"/>
            <a:ext cx="17830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87000" y="5760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du projet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JSON brut a la prediction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783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606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MongoDB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JSON bruts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3566160"/>
            <a:ext cx="164592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13432" y="2377440"/>
            <a:ext cx="1783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53512" y="2606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53512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04872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features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04872" y="37033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tweet et user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96512" y="3566160"/>
            <a:ext cx="164592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61104" y="2377440"/>
            <a:ext cx="1783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01184" y="2606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52544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Agregation utilisateur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52544" y="37033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 M lignes, 25 colonnes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44184" y="3566160"/>
            <a:ext cx="164592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08776" y="2377440"/>
            <a:ext cx="1783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48856" y="2606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48856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0216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Etiquetage faible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0216" y="37033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regles expertes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91856" y="3566160"/>
            <a:ext cx="164592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156448" y="2377440"/>
            <a:ext cx="1783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796528" y="2606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9652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47888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Modelisation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47888" y="37033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/ Random Forest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939528" y="3566160"/>
            <a:ext cx="164592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04120" y="2377440"/>
            <a:ext cx="1783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744200" y="2606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442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195560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195560" y="37033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critique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est organise en plusieurs notebooks Jupyter qui s'enchainent.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des donnees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tres asymetrique des indicateurs sociaux</a:t>
            </a:r>
            <a:endParaRPr lang="en-US" sz="1400" dirty="0"/>
          </a:p>
        </p:txBody>
      </p:sp>
      <p:pic>
        <p:nvPicPr>
          <p:cNvPr id="6" name="Image 0" descr="/tmp/images/DistFollowerUtilisate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017520"/>
          </a:xfrm>
          <a:prstGeom prst="rect">
            <a:avLst/>
          </a:prstGeom>
        </p:spPr>
      </p:pic>
      <p:pic>
        <p:nvPicPr>
          <p:cNvPr id="7" name="Image 1" descr="/tmp/images/BoxplotFollo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394960" cy="3017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4572000"/>
            <a:ext cx="73152" cy="1828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4663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cles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1520" y="50292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en loi de puissance : deux tiers des utilisateurs n'ont publie qu'un seul tweet.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extremes sur followers : justifie l'usage de log1p et RobustScaler.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d'interaction (retweets recus, favoris, reponses) presque tous a zero : limite du mode de collecte streaming.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Ingenierie des features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variables organisees en 4 categories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743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27432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468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followers_count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friends_count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ratio_followers_friends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listed_count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favourites_count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73552" y="1371600"/>
            <a:ext cx="2743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371600"/>
            <a:ext cx="27432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56432" y="2194560"/>
            <a:ext cx="2468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hashtags_moy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urls_moy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mentions_moy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longueur_tweet_moy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similarite_tweets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371600"/>
            <a:ext cx="2743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371600"/>
            <a:ext cx="274320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64224" y="2194560"/>
            <a:ext cx="2468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taux_retweet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taux_reply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freq_publication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anciennete_compte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activite_horaire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89136" y="1371600"/>
            <a:ext cx="2743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89136" y="1371600"/>
            <a:ext cx="2743200" cy="640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89136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(binaires)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72016" y="2194560"/>
            <a:ext cx="2468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default_profile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geo_enabled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has_description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Etiquetage par regles expertes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supervision : 4 criteres inspires de SPOT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followers / friends &lt; 0,05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22402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beaucoup, suivi par peu de monde. Signal classique des comptes spammeurs.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48640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73736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Frequence de tweets tres elevee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89520" y="22402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massive sur une periode courte : signal d'automatisation.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548640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1148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14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4069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similarite entre les tweets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28800" y="46177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repetitif, indice de scripts ou de bots de spam.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749040"/>
            <a:ext cx="548640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41148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114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89520" y="4069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d'URLs et de hashtags eleve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89520" y="46177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saturees de liens et de mots-cles, typique des relais.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etiquete atypique si au moins 2 criteres sont satisfaits. Resultat : environ 13 % de profils atypiques.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de dimension par PCA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des utilisateurs sur 2 composantes principales</a:t>
            </a:r>
            <a:endParaRPr lang="en-US" sz="1400" dirty="0"/>
          </a:p>
        </p:txBody>
      </p:sp>
      <p:pic>
        <p:nvPicPr>
          <p:cNvPr id="6" name="Image 0" descr="/tmp/images/projectionPCA_utilisate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1371600"/>
            <a:ext cx="438912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0" y="1371600"/>
            <a:ext cx="4389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1371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0" y="192024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classique 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+ 2 composantes. Variance expliquee : seulement 35 %.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nuage est ecrase par les valeurs extremes des comptes celebres.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Pretraitement log1p sur les variables sociales puis RobustScaler. Mieux adapte aux distributions a longue traine.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dans l'espace PCA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 du coude et classification</a:t>
            </a:r>
            <a:endParaRPr lang="en-US" sz="1400" dirty="0"/>
          </a:p>
        </p:txBody>
      </p:sp>
      <p:pic>
        <p:nvPicPr>
          <p:cNvPr id="6" name="Image 0" descr="/tmp/images/coud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5669280" cy="3291840"/>
          </a:xfrm>
          <a:prstGeom prst="rect">
            <a:avLst/>
          </a:prstGeom>
        </p:spPr>
      </p:pic>
      <p:pic>
        <p:nvPicPr>
          <p:cNvPr id="7" name="Image 1" descr="/tmp/images/ClassificationP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669280" cy="32918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4846320"/>
            <a:ext cx="1143000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4846320"/>
            <a:ext cx="73152" cy="1508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 retenu d'apres la methode du coude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5257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: 1,18 M amplificateurs passifs (comptes ordinaires).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: 661 k createurs et partageurs actifs.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: 27 mega-celebrites (20 M+ followers, score de visibilite extreme).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4 : 326 super-diffuseurs (publication intensive sur l'evenement).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: visualisation optimisee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log + RobustScaler la structure devient lisible</a:t>
            </a:r>
            <a:endParaRPr lang="en-US" sz="1400" dirty="0"/>
          </a:p>
        </p:txBody>
      </p:sp>
      <p:pic>
        <p:nvPicPr>
          <p:cNvPr id="6" name="Image 0" descr="/tmp/images/VisuOptimis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71600"/>
            <a:ext cx="6858000" cy="4937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371600"/>
            <a:ext cx="3474720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412480" y="20116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2194560"/>
            <a:ext cx="3291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outliers extremes sont resserres mais visibles.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separation des clusters est plus nette que dans la version PCA classique.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l'identification visuelle des super-diffuseurs et des celebrites.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sans PCA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directe sur les 19 variables normalisees</a:t>
            </a:r>
            <a:endParaRPr lang="en-US" sz="1400" dirty="0"/>
          </a:p>
        </p:txBody>
      </p:sp>
      <p:pic>
        <p:nvPicPr>
          <p:cNvPr id="6" name="Image 0" descr="/tmp/images/coudeSans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4864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Coude a K = 6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17920" y="1874520"/>
            <a:ext cx="73152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2011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clusters car la PCA fusionnait les sous-groupes sur les premieres composantes.</a:t>
            </a:r>
            <a:endParaRPr lang="en-US" sz="1300" dirty="0"/>
          </a:p>
        </p:txBody>
      </p:sp>
      <p:pic>
        <p:nvPicPr>
          <p:cNvPr id="10" name="Image 1" descr="/tmp/images/sp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9260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Decouverte cle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040880" y="3291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304 000 spammeurs de liens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263640" y="38404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d'URLs proche de 1 (presque un lien par tweet), comportement automatise. Profil typique d'agregateur ou bot de diffusion.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5349240"/>
            <a:ext cx="11247120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clusters identifies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" y="5760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 k createurs engages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 k partageurs reguliers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k spammeurs de liens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0" y="5760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super-diffuseurs pros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Amplificateurs de masse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residuel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(supervise)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sur l'ensemble de test (20 %)</a:t>
            </a:r>
            <a:endParaRPr lang="en-US" sz="1400" dirty="0"/>
          </a:p>
        </p:txBody>
      </p:sp>
      <p:pic>
        <p:nvPicPr>
          <p:cNvPr id="6" name="Image 0" descr="/tmp/images/matrice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03520" cy="4114800"/>
          </a:xfrm>
          <a:prstGeom prst="rect">
            <a:avLst/>
          </a:prstGeom>
        </p:spPr>
      </p:pic>
      <p:pic>
        <p:nvPicPr>
          <p:cNvPr id="7" name="Image 1" descr="/tmp/images/importanceV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852160" cy="4114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5577840"/>
            <a:ext cx="215798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559612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97 %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7200" y="60807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globale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61488" y="5577840"/>
            <a:ext cx="215798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61488" y="559612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88 %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761488" y="60807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classe atypique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65776" y="5577840"/>
            <a:ext cx="215798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65776" y="559612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5065776" y="60807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atypique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70064" y="5577840"/>
            <a:ext cx="215798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70064" y="559612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7370064" y="60807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atypique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9674352" y="5577840"/>
            <a:ext cx="215798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674352" y="559612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87,9 %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9674352" y="60807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moyen CV 5 plis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comparative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face a Random Forest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(non supervise)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(supervise)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 d'etiquettes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Necessaire (regles expertes)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Groupes naturels (4 ou 6 clusters)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binaire : atypique / normal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Bonne (profils types identifiables)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bonne (importance des variables)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metrique chiffree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97 %, F1 88 %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Cout de calcul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(avec PCA), eleve sans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Modere (300 arbres)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Apport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Decouvre des comportements inattendus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Reproduit fidelement une 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approches sont complementaires plus que concurrentes : K-Means explore, Random Forest valide.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: les variables de popularite (followers, listed) et d'activite portent la majorite du signal.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perspectives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Forces, faiblesses, suites possibles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vraies etiquettes : la cible est construite a partir d'une definition expert.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d'interaction quasi tous a zero (limite du streaming).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K dans K-Means reste subjectif malgre la methode du coude.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des clusters demande un regard humain.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circularite : Random Forest evalue contre ses propres regles d'etiquetage.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86400" cy="493776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371600"/>
            <a:ext cx="54864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 dataset avec vraies etiquettes (Cresci 2017, MIB).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d'autres clusterings : DBSCAN, GMM, hierarchique.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d'autres modeles supervises : XGBoost, LightGBM, SVM.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les features avec analyse du texte (NLP, embeddings).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Etudier la dimension temporelle (rythmes de publication, sequences).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IF29 - Projet P26 - Groupe 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612880" y="6629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13716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011680" y="20116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et reproductible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2514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4,5 M de tweets bruts jusqu'aux predictions, en passant par MongoDB, feature engineering et etiquetage faible.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011680" y="34290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approches complementaires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3931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 revele des structures non anticipees. Random Forest a valide une definition operationnelle avec un F1 de 88 %.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011680" y="4846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operationnelle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0" y="5349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Privilegier le supervise pour la production : plus precis, plus rapide a appliquer, fonde sur une definition explicite.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ages/twitter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3464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</a:t>
            </a:r>
            <a:endParaRPr lang="en-US" sz="5200" dirty="0"/>
          </a:p>
        </p:txBody>
      </p:sp>
      <p:sp>
        <p:nvSpPr>
          <p:cNvPr id="4" name="Shape 1"/>
          <p:cNvSpPr/>
          <p:nvPr/>
        </p:nvSpPr>
        <p:spPr>
          <a:xfrm>
            <a:off x="5166360" y="3931920"/>
            <a:ext cx="18288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02 - IF29 - Semestre P26 - UTT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de profils atypiques sur Twitter</dc:title>
  <dc:subject>PptxGenJS Presentation</dc:subject>
  <dc:creator>Groupe 02 - IF29</dc:creator>
  <cp:lastModifiedBy>Groupe 02 - IF29</cp:lastModifiedBy>
  <cp:revision>1</cp:revision>
  <dcterms:created xsi:type="dcterms:W3CDTF">2026-06-13T01:18:40Z</dcterms:created>
  <dcterms:modified xsi:type="dcterms:W3CDTF">2026-06-13T01:18:40Z</dcterms:modified>
</cp:coreProperties>
</file>